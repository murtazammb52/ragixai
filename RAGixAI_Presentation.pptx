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0D1020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 i="0">
                <a:solidFill>
                  <a:srgbClr val="7C3AED"/>
                </a:solidFill>
              </a:rPr>
              <a:t>RAGixAI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3774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CCCCCC"/>
                </a:solidFill>
              </a:rPr>
              <a:t>Technical Architecture &amp; Design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6B6D4"/>
                </a:solidFill>
              </a:rPr>
              <a:t>Local-First RAG over SEC EDGAR Financial Filings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657600"/>
            <a:ext cx="3794760" cy="45720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080760" y="3657600"/>
            <a:ext cx="3794760" cy="45720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4023360"/>
            <a:ext cx="1828800" cy="1005840"/>
          </a:xfrm>
          <a:prstGeom prst="rect">
            <a:avLst/>
          </a:prstGeom>
          <a:solidFill>
            <a:srgbClr val="0D142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09651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C3AED"/>
                </a:solidFill>
              </a:rPr>
              <a:t>8,976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</a:rPr>
              <a:t>Chunks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0360" y="4023360"/>
            <a:ext cx="1828800" cy="1005840"/>
          </a:xfrm>
          <a:prstGeom prst="rect">
            <a:avLst/>
          </a:prstGeom>
          <a:solidFill>
            <a:srgbClr val="0D14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71800" y="409651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B6D4"/>
                </a:solidFill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4617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</a:rPr>
              <a:t>Companies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12079" y="4023360"/>
            <a:ext cx="1828800" cy="1005840"/>
          </a:xfrm>
          <a:prstGeom prst="rect">
            <a:avLst/>
          </a:prstGeom>
          <a:solidFill>
            <a:srgbClr val="0D142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03519" y="409651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C3AED"/>
                </a:solidFill>
              </a:rPr>
              <a:t>45+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03519" y="4617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</a:rPr>
              <a:t>Filings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543800" y="4023360"/>
            <a:ext cx="1828800" cy="1005840"/>
          </a:xfrm>
          <a:prstGeom prst="rect">
            <a:avLst/>
          </a:prstGeom>
          <a:solidFill>
            <a:srgbClr val="0D14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35240" y="409651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B6D4"/>
                </a:solidFill>
              </a:rPr>
              <a:t>150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4617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</a:rPr>
              <a:t>Gold QA Pairs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875519" y="4023360"/>
            <a:ext cx="1828800" cy="1005840"/>
          </a:xfrm>
          <a:prstGeom prst="rect">
            <a:avLst/>
          </a:prstGeom>
          <a:solidFill>
            <a:srgbClr val="0D142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966959" y="409651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C3AED"/>
                </a:solidFill>
              </a:rP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966959" y="46177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</a:rPr>
              <a:t>RAG Configs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03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D4D4D"/>
                </a:solidFill>
              </a:rPr>
              <a:t>llama3.2 3B  ·  ChromaDB  ·  BM25  ·  CrossEncoder  ·  FastAPI  ·  Ollama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715000" cy="54864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0760" y="274320"/>
            <a:ext cx="5715000" cy="54864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System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</a:rPr>
              <a:t>What RAGixAI is and why it was built this 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CCCCC"/>
                </a:solidFill>
              </a:rPr>
              <a:t>RAGixAI answers natural-language questions about SEC filings with cited, grounded answers — never model hallucinations.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65960"/>
            <a:ext cx="3749039" cy="3657600"/>
          </a:xfrm>
          <a:prstGeom prst="rect">
            <a:avLst/>
          </a:prstGeom>
          <a:solidFill>
            <a:srgbClr val="0D142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965960"/>
            <a:ext cx="36576" cy="3657600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57400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What It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77440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Local-first RAG over SEC EDGAR filings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51760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10 companies: AAPL, MSFT, AMZN, GOOGL,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926079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  META, NVDA, TSLA, JPM, BAC, WMT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200399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8,976 chunks from ~45 filings (2020–2026)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74719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Runs entirely on consumer hardware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49039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Zero cloud API dependencies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965960"/>
            <a:ext cx="3749039" cy="3657600"/>
          </a:xfrm>
          <a:prstGeom prst="rect">
            <a:avLst/>
          </a:prstGeom>
          <a:solidFill>
            <a:srgbClr val="0D142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965960"/>
            <a:ext cx="36576" cy="3657600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2057400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Hardware Reality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2377440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NVIDIA MX450 — only 2 GB VRAM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651760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llama3.2 3B at 4-bit quant (~1.8 GB VRAM)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926079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~25 tokens/second generation speed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3200399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143–215 s per query end-to-end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474719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Embedder + Reranker run on CPU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749039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Research demo, not production system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1965960"/>
            <a:ext cx="3749039" cy="3657600"/>
          </a:xfrm>
          <a:prstGeom prst="rect">
            <a:avLst/>
          </a:prstGeom>
          <a:solidFill>
            <a:srgbClr val="0D14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1965960"/>
            <a:ext cx="36576" cy="3657600"/>
          </a:xfrm>
          <a:prstGeom prst="rect">
            <a:avLst/>
          </a:prstGeom>
          <a:solidFill>
            <a:srgbClr val="06B6D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66760" y="2057400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Two-Track Evaluation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2377440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RAGAS: 5 automated metrics (0–1)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651760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LLM-as-Judge: 4 dimensions + reasoning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926079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A/B test: 7 configs head-to-head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200399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FinanceBench gold dataset (150 QA pairs)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474719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Config D only config to pass all 5 targets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749039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Full 7-config run = ~77 hours on MX450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715000" cy="54864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0760" y="274320"/>
            <a:ext cx="5715000" cy="54864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Design Decisions: Why RAG? Why Local-First?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</a:rPr>
              <a:t>Every architectural choice made to solve a real constraint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0B981"/>
                </a:solidFill>
              </a:rPr>
              <a:t>RAG vs Fine-Tuning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83080"/>
            <a:ext cx="2194560" cy="384048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828800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Reason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1783080"/>
            <a:ext cx="3840480" cy="384048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33472" y="1828800"/>
            <a:ext cx="3749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RAG (chosen)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83080"/>
            <a:ext cx="3840480" cy="384048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828800"/>
            <a:ext cx="3749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Fine-Tuning (rejected)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67128"/>
            <a:ext cx="219456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20370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Knowledge currency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2167128"/>
            <a:ext cx="3840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33472" y="2203704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New 10-Q = 5 min ingest+embed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0" y="2167128"/>
            <a:ext cx="3840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73952" y="2203704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Days of A100 GPU training, $1000s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551176"/>
            <a:ext cx="219456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258775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Hallucination control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560320" y="2551176"/>
            <a:ext cx="384048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33472" y="2587752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Cannot generate fact not in chunk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551176"/>
            <a:ext cx="384048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73952" y="2587752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Plausible wrong numbers from training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935224"/>
            <a:ext cx="219456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297180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Hardware need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60320" y="2935224"/>
            <a:ext cx="3840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33472" y="2971800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Inference only — fits MX450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2935224"/>
            <a:ext cx="3840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73952" y="2971800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7B+ model fine-tune needs A100 cluster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023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6B6D4"/>
                </a:solidFill>
              </a:rPr>
              <a:t>Local-First vs Cloud API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4389120"/>
            <a:ext cx="2194560" cy="384048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4434840"/>
            <a:ext cx="210312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Reason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60320" y="4389120"/>
            <a:ext cx="3840480" cy="384048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33472" y="4434840"/>
            <a:ext cx="3749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Local (chosen)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4389120"/>
            <a:ext cx="3840480" cy="384048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73952" y="4434840"/>
            <a:ext cx="374904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Cloud API (rejected)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773168"/>
            <a:ext cx="219456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4809744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Data privacy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560320" y="4773168"/>
            <a:ext cx="3840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33472" y="4809744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No data leaves the machine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4773168"/>
            <a:ext cx="3840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73952" y="4809744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Financial data sent to external servers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5760" y="5157216"/>
            <a:ext cx="219456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38912" y="5193792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Cost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560320" y="5157216"/>
            <a:ext cx="384048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633472" y="5193792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$0 per eval run (Ollama free)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5157216"/>
            <a:ext cx="384048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73952" y="5193792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GPT-4: $4.20/run × dozens of runs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541264"/>
            <a:ext cx="219456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" y="5577840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Offline use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560320" y="5541264"/>
            <a:ext cx="3840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633472" y="5577840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Works without internet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00800" y="5541264"/>
            <a:ext cx="3840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473952" y="5577840"/>
            <a:ext cx="3749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Requires network latency + availability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715000" cy="54864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0760" y="274320"/>
            <a:ext cx="5715000" cy="54864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Full Pipeline &amp; 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</a:rPr>
              <a:t>12 stages end-to-end — offline (build once) + online (per query)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1143000" cy="658368"/>
          </a:xfrm>
          <a:prstGeom prst="rect">
            <a:avLst/>
          </a:prstGeom>
          <a:solidFill>
            <a:srgbClr val="10172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59" y="1417320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3AED"/>
                </a:solidFill>
              </a:rPr>
              <a:t>Ingest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72184" y="1572768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D4D4D"/>
                </a:solidFill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1536192" y="1371600"/>
            <a:ext cx="1143000" cy="658368"/>
          </a:xfrm>
          <a:prstGeom prst="rect">
            <a:avLst/>
          </a:prstGeom>
          <a:solidFill>
            <a:srgbClr val="10172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81912" y="1417320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3AED"/>
                </a:solidFill>
              </a:rPr>
              <a:t>Chunk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88336" y="1572768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D4D4D"/>
                </a:solidFill>
              </a:rPr>
              <a:t>→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52344" y="1371600"/>
            <a:ext cx="1143000" cy="658368"/>
          </a:xfrm>
          <a:prstGeom prst="rect">
            <a:avLst/>
          </a:prstGeom>
          <a:solidFill>
            <a:srgbClr val="10172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98064" y="1417320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7C3AED"/>
                </a:solidFill>
              </a:rPr>
              <a:t>Embed
+Index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4487" y="1572768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D4D4D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68496" y="1371600"/>
            <a:ext cx="1143000" cy="658368"/>
          </a:xfrm>
          <a:prstGeom prst="rect">
            <a:avLst/>
          </a:prstGeom>
          <a:solidFill>
            <a:srgbClr val="101728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14215" y="1417320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43F5E"/>
                </a:solidFill>
              </a:rPr>
              <a:t>Guardrails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572768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D4D4D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84648" y="1371600"/>
            <a:ext cx="1143000" cy="658368"/>
          </a:xfrm>
          <a:prstGeom prst="rect">
            <a:avLst/>
          </a:prstGeom>
          <a:solidFill>
            <a:srgbClr val="101728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30368" y="1417320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</a:rPr>
              <a:t>Retrieve
(Dense+BM25)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6792" y="1572768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D4D4D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371600"/>
            <a:ext cx="1143000" cy="658368"/>
          </a:xfrm>
          <a:prstGeom prst="rect">
            <a:avLst/>
          </a:prstGeom>
          <a:solidFill>
            <a:srgbClr val="101728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1417320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6B6D4"/>
                </a:solidFill>
              </a:rPr>
              <a:t>RRF
Fusion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552944" y="1572768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D4D4D"/>
                </a:solidFill>
              </a:rP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616952" y="1371600"/>
            <a:ext cx="1143000" cy="658368"/>
          </a:xfrm>
          <a:prstGeom prst="rect">
            <a:avLst/>
          </a:prstGeom>
          <a:solidFill>
            <a:srgbClr val="101728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62672" y="1417320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0B981"/>
                </a:solidFill>
              </a:rPr>
              <a:t>Rerank
(CrossEncoder)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69096" y="1572768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D4D4D"/>
                </a:solidFill>
              </a:rPr>
              <a:t>→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833104" y="1371600"/>
            <a:ext cx="1143000" cy="658368"/>
          </a:xfrm>
          <a:prstGeom prst="rect">
            <a:avLst/>
          </a:prstGeom>
          <a:solidFill>
            <a:srgbClr val="101728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78824" y="1417320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59E0B"/>
                </a:solidFill>
              </a:rPr>
              <a:t>Generate
(Ollama)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85248" y="1572768"/>
            <a:ext cx="91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D4D4D"/>
                </a:solidFill>
              </a:rPr>
              <a:t>→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049256" y="1371600"/>
            <a:ext cx="1143000" cy="658368"/>
          </a:xfrm>
          <a:prstGeom prst="rect">
            <a:avLst/>
          </a:prstGeom>
          <a:solidFill>
            <a:srgbClr val="101728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094976" y="1417320"/>
            <a:ext cx="10515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B82F6"/>
                </a:solidFill>
              </a:rPr>
              <a:t>History
Write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084831"/>
            <a:ext cx="3575304" cy="228600"/>
          </a:xfrm>
          <a:prstGeom prst="rect">
            <a:avLst/>
          </a:prstGeom>
          <a:solidFill>
            <a:srgbClr val="120A28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2103120"/>
            <a:ext cx="3429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</a:rPr>
              <a:t>OFFLINE (build once)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968496" y="2084831"/>
            <a:ext cx="7223760" cy="228600"/>
          </a:xfrm>
          <a:prstGeom prst="rect">
            <a:avLst/>
          </a:prstGeom>
          <a:solidFill>
            <a:srgbClr val="081820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059935" y="210312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6B6D4"/>
                </a:solidFill>
              </a:rPr>
              <a:t>ONLINE (per query, &lt;1s except Ollama ~160s)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2487168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Technology Stack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2834640"/>
            <a:ext cx="210312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2880360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Component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468879" y="2834640"/>
            <a:ext cx="320040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542032" y="2880360"/>
            <a:ext cx="3108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Chosen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79" y="2834640"/>
            <a:ext cx="603504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42431" y="2880360"/>
            <a:ext cx="5943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Why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182112"/>
            <a:ext cx="21031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3218688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LLM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468879" y="3182112"/>
            <a:ext cx="32004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542032" y="321868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Ollama + llama3.2 3B 4-bit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669279" y="3182112"/>
            <a:ext cx="603504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742431" y="321868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Fits 2 GB VRAM; free; local; strong instruction follow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3529584"/>
            <a:ext cx="21031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8912" y="3566160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Embedder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468879" y="3529584"/>
            <a:ext cx="320040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542032" y="356616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all-MiniLM-L6-v2 (22M, 384-dim)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669279" y="3529584"/>
            <a:ext cx="603504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42431" y="3566160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Fast CPU; no API key; reranker is accuracy lever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65760" y="3877056"/>
            <a:ext cx="21031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912" y="391363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Vector store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68879" y="3877056"/>
            <a:ext cx="32004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542032" y="39136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ChromaDB 0.5.x (HNSW)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669279" y="3877056"/>
            <a:ext cx="603504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42431" y="3913632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Built-in metadata filter for RBAC; zero infra; SQLite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4224528"/>
            <a:ext cx="21031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38912" y="426110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Sparse index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468879" y="4224528"/>
            <a:ext cx="320040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542032" y="42611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BM25Okapi (rank_bm25)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669279" y="4224528"/>
            <a:ext cx="603504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42431" y="4261104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Exact keyword matching for financial terms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65760" y="4572000"/>
            <a:ext cx="21031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38912" y="4608576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Reranker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2468879" y="4572000"/>
            <a:ext cx="32004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542032" y="460857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cross-encoder/ms-marco-MiniLM-L-6-v2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669279" y="4572000"/>
            <a:ext cx="603504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742431" y="4608576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85 MB CPU; MS MARCO trained; 200ms</a:t>
            </a:r>
          </a:p>
        </p:txBody>
      </p:sp>
      <p:sp>
        <p:nvSpPr>
          <p:cNvPr id="73" name="Rectangle 72"/>
          <p:cNvSpPr/>
          <p:nvPr/>
        </p:nvSpPr>
        <p:spPr>
          <a:xfrm>
            <a:off x="365760" y="4919472"/>
            <a:ext cx="21031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438912" y="4956048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API</a:t>
            </a:r>
          </a:p>
        </p:txBody>
      </p:sp>
      <p:sp>
        <p:nvSpPr>
          <p:cNvPr id="75" name="Rectangle 74"/>
          <p:cNvSpPr/>
          <p:nvPr/>
        </p:nvSpPr>
        <p:spPr>
          <a:xfrm>
            <a:off x="2468879" y="4919472"/>
            <a:ext cx="320040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2542032" y="495604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FastAPI + Pydantic v2</a:t>
            </a:r>
          </a:p>
        </p:txBody>
      </p:sp>
      <p:sp>
        <p:nvSpPr>
          <p:cNvPr id="77" name="Rectangle 76"/>
          <p:cNvSpPr/>
          <p:nvPr/>
        </p:nvSpPr>
        <p:spPr>
          <a:xfrm>
            <a:off x="5669279" y="4919472"/>
            <a:ext cx="603504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742431" y="495604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Async; auto OpenAPI docs; type-safe validation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715000" cy="54864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0760" y="274320"/>
            <a:ext cx="5715000" cy="54864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Stage 1: Data Ingestion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</a:rPr>
              <a:t>SEC EDGAR REST API → plain text on disk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303520" cy="3291840"/>
          </a:xfrm>
          <a:prstGeom prst="rect">
            <a:avLst/>
          </a:prstGeom>
          <a:solidFill>
            <a:srgbClr val="0D142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576" cy="3291840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074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What It Does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• Downloads 10-K / 10-Q / 8-K filings from SEC EDGAR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• Strips HTML with BeautifulSoup (lxml parser)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77439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• Normalises whitespace → plain text files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59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• Writes manifest.json for downstream stages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79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• Idempotent: skips files that already exist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00399"/>
            <a:ext cx="4983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• Rate-limited to 6 req/s (SEC max = 10 req/s)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1417320"/>
            <a:ext cx="5852160" cy="4389120"/>
          </a:xfrm>
          <a:prstGeom prst="rect">
            <a:avLst/>
          </a:prstGeom>
          <a:solidFill>
            <a:srgbClr val="0D14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0" y="1417320"/>
            <a:ext cx="36576" cy="4389120"/>
          </a:xfrm>
          <a:prstGeom prst="rect">
            <a:avLst/>
          </a:prstGeom>
          <a:solidFill>
            <a:srgbClr val="06B6D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1508760"/>
            <a:ext cx="5623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Key Design Decisions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828800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Direct EDGAR API — not a HuggingFace dataset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103120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  → Full primary doc (all sections + footnotes)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2377439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  → Add new 10-Q the day it's filed (no stale data)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651759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  → Public domain under US gov copyright exemption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2926079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CIK hardcoded per company (stable, never changes)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3200399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User-Agent required: murtazammb@gmail.com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474719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--max-filings=10 needed (SEC returns latest N first,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3749039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  then year filter applies — too low = 0 files)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023359"/>
            <a:ext cx="55321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3 form types: 10-K (annual), 10-Q (quarterly), 8-K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754880"/>
            <a:ext cx="137160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Form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737360" y="4754880"/>
            <a:ext cx="219456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10512" y="4800600"/>
            <a:ext cx="2103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Frequency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1920" y="4754880"/>
            <a:ext cx="137160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05072" y="480060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Pages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03520" y="4754880"/>
            <a:ext cx="658368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76672" y="4800600"/>
            <a:ext cx="6492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Content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102352"/>
            <a:ext cx="13716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" y="51389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10-K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737360" y="5102352"/>
            <a:ext cx="219456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810512" y="5138928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Annual (60–90 days)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31920" y="5102352"/>
            <a:ext cx="13716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005072" y="513892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80–200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303520" y="5102352"/>
            <a:ext cx="658368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376672" y="5138928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Audited financials, MD&amp;A, risk factors, segment data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5449824"/>
            <a:ext cx="137160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54864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10-Q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737360" y="5449824"/>
            <a:ext cx="219456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810512" y="548640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Quarterly (40–45 days)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931920" y="5449824"/>
            <a:ext cx="137160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05072" y="548640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30–80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03520" y="5449824"/>
            <a:ext cx="658368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76672" y="5486400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Unaudited quarterly financials, management commentary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797296"/>
            <a:ext cx="13716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38912" y="58338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8-K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737360" y="5797296"/>
            <a:ext cx="219456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10512" y="5833872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Within 4 business days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31920" y="5797296"/>
            <a:ext cx="13716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05072" y="583387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5–20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303520" y="5797296"/>
            <a:ext cx="658368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376672" y="5833872"/>
            <a:ext cx="6492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Earnings releases, acquisitions, exec changes, guidance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715000" cy="54864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0760" y="274320"/>
            <a:ext cx="5715000" cy="54864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Stage 2: Document Chunking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</a:rPr>
              <a:t>Split 80–200 page filings into individually retrievable segments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A 10-K has 40,000–100,000 tokens — far larger than any embedding window (256 tokens) or LLM context budget.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920240"/>
            <a:ext cx="3749039" cy="3794760"/>
          </a:xfrm>
          <a:prstGeom prst="rect">
            <a:avLst/>
          </a:prstGeom>
          <a:solidFill>
            <a:srgbClr val="0D14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920240"/>
            <a:ext cx="36576" cy="379476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011680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Recursive Character (DEFAULT)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• LangChain RecursiveCharacterTextSplitter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• Tries separators: \n\n → \n → ". " → " "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880360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• Preserves sentence boundaries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3154679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• 512-token chunks, 50-token overlap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428999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• Never splits mid-sentence unless forced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3703320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• Overlap ensures boundary-spanning facts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977639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• appear complete in at least one chunk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920240"/>
            <a:ext cx="3749039" cy="3794760"/>
          </a:xfrm>
          <a:prstGeom prst="rect">
            <a:avLst/>
          </a:prstGeom>
          <a:solidFill>
            <a:srgbClr val="0D142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920240"/>
            <a:ext cx="36576" cy="3794760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011680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Fixed-Size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331720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• tiktoken cl100k_base exact token split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606040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• Exactly N tokens per chunk always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2880360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• No sentence awareness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60" y="3154679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• Bisects financial sentences mid-clause: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3428999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• "$29.7B, driven by strong iPhone sales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80560" y="3703320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• [SPLIT] in Greater China" — qualifier lost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3977639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• Useful for controlled size experiments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920240"/>
            <a:ext cx="3749039" cy="3794760"/>
          </a:xfrm>
          <a:prstGeom prst="rect">
            <a:avLst/>
          </a:prstGeom>
          <a:solidFill>
            <a:srgbClr val="0D1424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229600" y="1920240"/>
            <a:ext cx="36576" cy="3794760"/>
          </a:xfrm>
          <a:prstGeom prst="rect">
            <a:avLst/>
          </a:prstGeom>
          <a:solidFill>
            <a:srgbClr val="F43F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2011680"/>
            <a:ext cx="35204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Semantic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2331720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• Embeds each sentence with all-MiniLM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606040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• Splits where cosine sim &lt; 0.5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880360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• Topically coherent chunks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154679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• Variable length (200–900 tokens)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428999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• ~10× longer build time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703320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• Marginal quality gain over recursive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3977639"/>
            <a:ext cx="342899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CCCCC"/>
                </a:solidFill>
              </a:rPr>
              <a:t>• for well-structured financial filings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5760720"/>
            <a:ext cx="1828800" cy="1005840"/>
          </a:xfrm>
          <a:prstGeom prst="rect">
            <a:avLst/>
          </a:prstGeom>
          <a:solidFill>
            <a:srgbClr val="0D142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8338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C3AED"/>
                </a:solidFill>
              </a:rPr>
              <a:t>8,976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355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</a:rPr>
              <a:t>Total Chunks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724912" y="5760720"/>
            <a:ext cx="1828800" cy="1005840"/>
          </a:xfrm>
          <a:prstGeom prst="rect">
            <a:avLst/>
          </a:prstGeom>
          <a:solidFill>
            <a:srgbClr val="0D14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816352" y="58338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B6D4"/>
                </a:solidFill>
              </a:rPr>
              <a:t>~2,048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816352" y="6355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</a:rPr>
              <a:t>Chars/Chunk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84064" y="5760720"/>
            <a:ext cx="1828800" cy="1005840"/>
          </a:xfrm>
          <a:prstGeom prst="rect">
            <a:avLst/>
          </a:prstGeom>
          <a:solidFill>
            <a:srgbClr val="0D14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75504" y="58338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0B981"/>
                </a:solidFill>
              </a:rPr>
              <a:t>50 tok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75504" y="6355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</a:rPr>
              <a:t>Overlap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443216" y="5760720"/>
            <a:ext cx="1828800" cy="1005840"/>
          </a:xfrm>
          <a:prstGeom prst="rect">
            <a:avLst/>
          </a:prstGeom>
          <a:solidFill>
            <a:srgbClr val="0D142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534656" y="58338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9E0B"/>
                </a:solidFill>
              </a:rPr>
              <a:t>18.4 MB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34656" y="6355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</a:rPr>
              <a:t>JSONL on Disk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802368" y="5760720"/>
            <a:ext cx="1828800" cy="1005840"/>
          </a:xfrm>
          <a:prstGeom prst="rect">
            <a:avLst/>
          </a:prstGeom>
          <a:solidFill>
            <a:srgbClr val="0D142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893808" y="583387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B82F6"/>
                </a:solidFill>
              </a:rPr>
              <a:t>MD5 hash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893808" y="635508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</a:rPr>
              <a:t>Chunk IDs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715000" cy="54864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0760" y="274320"/>
            <a:ext cx="5715000" cy="54864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Stage 3: Embedding &amp; Indexing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</a:rPr>
              <a:t>Dense vectors (ChromaDB HNSW) + Sparse index (BM25) built from same 8,976 chunks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669280" cy="2286000"/>
          </a:xfrm>
          <a:prstGeom prst="rect">
            <a:avLst/>
          </a:prstGeom>
          <a:solidFill>
            <a:srgbClr val="0D142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576" cy="2286000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Embedding Model: all-MiniLM-L6-v2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22M params — maps text to 384-dim unit 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Trained on MS MARCO, NLI pairs, Reddit QA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77439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Runs on CPU (keeps 2 GB VRAM for Ollama)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59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model_kwargs={'torch_dtype': torch.float32} — bypasses Windows safetensors mmap 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79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Batch=32 → 8–12× throughput vs single-item calls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5577840" cy="2286000"/>
          </a:xfrm>
          <a:prstGeom prst="rect">
            <a:avLst/>
          </a:prstGeom>
          <a:solidFill>
            <a:srgbClr val="0D14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36576" cy="2286000"/>
          </a:xfrm>
          <a:prstGeom prst="rect">
            <a:avLst/>
          </a:prstGeom>
          <a:solidFill>
            <a:srgbClr val="06B6D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50876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ChromaDB HNSW Vector Store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2880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HNSW: O(log N) ANN search vs O(N) brute force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0312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M=16 links, ef_construction=100, ef=10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39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~95% recall@10 in &lt;80ms on CPU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51759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Ticker metadata filter runs INSIDE HNSW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26079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chroma.sqlite3 = 145 MB → tracked via Git LFS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00399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MD5 chunk IDs → resumable indexing (crash-safe)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886200"/>
            <a:ext cx="11430000" cy="2194560"/>
          </a:xfrm>
          <a:prstGeom prst="rect">
            <a:avLst/>
          </a:prstGeom>
          <a:solidFill>
            <a:srgbClr val="0D14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886200"/>
            <a:ext cx="36576" cy="219456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3977639"/>
            <a:ext cx="11201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BM25 Sparse Index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297680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BM25Okapi (rank_bm25) — industry-standard keyword scoring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572000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k1=1.5 (term frequency saturation), b=0.75 (length normalisation)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846320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Rebuilt from ChromaDB on every server start (3–8 s) — always in sync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120640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Not persisted to disk (pickle version coupling → stale index risk)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394959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Catches exact ticker symbols, line item names, accession numbers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669279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Complementary to dense: embeddings smooth over rare exact terms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144768"/>
            <a:ext cx="2926080" cy="329184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6190488"/>
            <a:ext cx="28346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Collection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6144768"/>
            <a:ext cx="3200400" cy="329184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364992" y="619048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Model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6144768"/>
            <a:ext cx="1371600" cy="329184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65392" y="6190488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Dims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63840" y="6144768"/>
            <a:ext cx="4297680" cy="329184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936992" y="619048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Env setting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" y="6473952"/>
            <a:ext cx="2926080" cy="329184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6510528"/>
            <a:ext cx="28346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ragixai_local (default)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6473952"/>
            <a:ext cx="3200400" cy="329184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364992" y="6510528"/>
            <a:ext cx="310896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all-MiniLM-L6-v2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92240" y="6473952"/>
            <a:ext cx="1371600" cy="329184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65392" y="6510528"/>
            <a:ext cx="128016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384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863840" y="6473952"/>
            <a:ext cx="4297680" cy="329184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936992" y="6510528"/>
            <a:ext cx="4206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EMBED_MODEL=local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65760" y="6803136"/>
            <a:ext cx="2926080" cy="329184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38912" y="6839712"/>
            <a:ext cx="28346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ragixai_cohere (Config E)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91840" y="6803136"/>
            <a:ext cx="3200400" cy="329184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364992" y="6839712"/>
            <a:ext cx="310896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Cohere Embed v3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6803136"/>
            <a:ext cx="1371600" cy="329184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565392" y="6839712"/>
            <a:ext cx="128016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1,024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863840" y="6803136"/>
            <a:ext cx="4297680" cy="329184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936992" y="6839712"/>
            <a:ext cx="4206240" cy="2560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EMBED_MODEL=cohere + COHERE_API_KEY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715000" cy="54864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0760" y="274320"/>
            <a:ext cx="5715000" cy="54864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Stage 4: Retrieval — Dense, BM25, Hybrid RRF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</a:rPr>
              <a:t>7 configurations to isolate the contribution of each retrieval component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371600"/>
            <a:ext cx="137160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417320"/>
            <a:ext cx="1280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Config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371600"/>
            <a:ext cx="256032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10512" y="1417320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Retrieval Mode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79" y="1371600"/>
            <a:ext cx="228600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1" y="14173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Reranker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83679" y="1371600"/>
            <a:ext cx="548640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56831" y="1417320"/>
            <a:ext cx="5394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Notes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719072"/>
            <a:ext cx="13716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75564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37360" y="1719072"/>
            <a:ext cx="25603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10512" y="1755648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Dense only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79" y="1719072"/>
            <a:ext cx="22860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70831" y="17556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None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79" y="1719072"/>
            <a:ext cx="54864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56831" y="175564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Baseline — pure semantic matching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066543"/>
            <a:ext cx="137160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2103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B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2066543"/>
            <a:ext cx="25603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10512" y="210312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BM25 only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97679" y="2066543"/>
            <a:ext cx="228600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70831" y="2103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None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79" y="2066543"/>
            <a:ext cx="548640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56831" y="210312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Baseline — pure keyword matching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414016"/>
            <a:ext cx="13716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2450592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737360" y="2414016"/>
            <a:ext cx="25603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810512" y="245059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Hybrid RRF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97679" y="2414016"/>
            <a:ext cx="22860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70831" y="24505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None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79" y="2414016"/>
            <a:ext cx="54864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6831" y="2450592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Tests fusion alone (no rerank)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761488"/>
            <a:ext cx="137160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27980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D ★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37360" y="2761488"/>
            <a:ext cx="25603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10512" y="2798064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Hybrid RRF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97679" y="2761488"/>
            <a:ext cx="228600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70831" y="27980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CrossEncoder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83679" y="2761488"/>
            <a:ext cx="548640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656831" y="2798064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Best — only config passing all 5 RAGAS targets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108960"/>
            <a:ext cx="13716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314553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737360" y="3108960"/>
            <a:ext cx="25603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810512" y="3145536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Hybrid RRF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97679" y="3108960"/>
            <a:ext cx="22860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70831" y="314553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CrossEncoder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583679" y="3108960"/>
            <a:ext cx="54864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56831" y="3145536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Cohere embed variant — similar quality to 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456432"/>
            <a:ext cx="137160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" y="3493008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F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737360" y="3456432"/>
            <a:ext cx="25603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10512" y="3493008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Hybrid RRF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297679" y="3456432"/>
            <a:ext cx="228600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70831" y="349300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CrossEncoder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583679" y="3456432"/>
            <a:ext cx="548640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656831" y="3493008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Alternate generation params, same retrieval as D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803904"/>
            <a:ext cx="13716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8912" y="384048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737360" y="3803904"/>
            <a:ext cx="25603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810512" y="384048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Dense only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297679" y="3803904"/>
            <a:ext cx="22860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70831" y="3840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CrossEncoder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583679" y="3803904"/>
            <a:ext cx="54864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656831" y="3840480"/>
            <a:ext cx="5394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Tests dense+rerank vs hybrid+rerank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4343400"/>
            <a:ext cx="11430000" cy="1920240"/>
          </a:xfrm>
          <a:prstGeom prst="rect">
            <a:avLst/>
          </a:prstGeom>
          <a:solidFill>
            <a:srgbClr val="0D14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365760" y="4343400"/>
            <a:ext cx="36576" cy="1920240"/>
          </a:xfrm>
          <a:prstGeom prst="rect">
            <a:avLst/>
          </a:prstGeom>
          <a:solidFill>
            <a:srgbClr val="06B6D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02920" y="4434840"/>
            <a:ext cx="11201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Reciprocal Rank Fusion (RRF) — Why Rank-Based Fusion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48640" y="4754880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Dense scores (cosine 0–1) and BM25 scores (TF-IDF, unbounded) are on incompatible scales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48640" y="5029200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RRF uses only rank positions — always comparable, no per-query calibration needed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48640" y="5303520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Score = 0.6 × 1/(60+rank_dense) + 0.4 × 1/(60+rank_bm25)   (k=60 from Cormack 2009 paper)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48640" y="5577840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Dense weight 0.6 &gt; BM25 0.4: semantic matching generally outperforms keyword on paraphrastic questions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5852159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BM25 fetches 4× candidates before ticker filter (10 companies → ~10% hit rate → need 80 to get 20 AAPL)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6336792"/>
            <a:ext cx="11430000" cy="1417320"/>
          </a:xfrm>
          <a:prstGeom prst="rect">
            <a:avLst/>
          </a:prstGeom>
          <a:solidFill>
            <a:srgbClr val="0D14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65760" y="6336792"/>
            <a:ext cx="36576" cy="141732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" y="6428231"/>
            <a:ext cx="11201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Two-Stage Design: Why Retrieve 20 → Rerank to 5?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" y="6748272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Cross-encoder is far more accurate (sees query+doc together) but O(N) — scoring 8,976 chunks ≈ 10 seconds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7022592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Bi-encoder fast HNSW narrows to top-20 (&lt;100ms) → Cross-encoder reranks to top-5 (~200ms)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8640" y="7296912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Top-5 chunks fit in ~3,000-token context without truncation — keeps generation concise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715000" cy="54864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0760" y="274320"/>
            <a:ext cx="5715000" cy="54864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Stage 5: Cross-Encoder Reranking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</a:rPr>
              <a:t>Re-score 20 candidates with a joint (query, document) model → select top-5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2423160"/>
          </a:xfrm>
          <a:prstGeom prst="rect">
            <a:avLst/>
          </a:prstGeom>
          <a:solidFill>
            <a:srgbClr val="0D142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576" cy="2423160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11201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Model: cross-encoder/ms-marco-MiniLM-L-6-v2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• 6-layer BERT fine-tuned on MS MARCO (large-scale web QA from Bing search)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• Takes concatenated [CLS] query [SEP] document [SEP] as single input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77439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• Outputs logit score (unbounded float) — sort descending, take top-5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59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• All 20 pairs in ONE batched forward pass (~5× faster than sequential)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79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• max_length=512 — truncates long (query+doc) pairs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00399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• Lazy singleton: 2–4 s cold load (once), ~200 ms warm (every query)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05072"/>
            <a:ext cx="2560320" cy="43891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4050791"/>
            <a:ext cx="2468879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Architecture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26079" y="4005072"/>
            <a:ext cx="4206240" cy="43891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999232" y="4050791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Approach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32319" y="4005072"/>
            <a:ext cx="2651760" cy="43891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05471" y="4050791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Speed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84080" y="4005072"/>
            <a:ext cx="2377440" cy="43891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857232" y="4050791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Accuracy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443983"/>
            <a:ext cx="2560320" cy="43891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4480559"/>
            <a:ext cx="24688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Bi-encoder (retrieval)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26079" y="4443983"/>
            <a:ext cx="4206240" cy="43891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999232" y="4480559"/>
            <a:ext cx="41148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Encode query and doc INDEPENDENTLY → cosine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132319" y="4443983"/>
            <a:ext cx="2651760" cy="43891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205471" y="4480559"/>
            <a:ext cx="25603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Fast: pre-computed doc embeddings + HNSW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4443983"/>
            <a:ext cx="2377440" cy="43891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857232" y="4480559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Lower: never sees both texts together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4882896"/>
            <a:ext cx="2560320" cy="43891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4919472"/>
            <a:ext cx="2468879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Cross-encoder (reranking)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79" y="4882896"/>
            <a:ext cx="4206240" cy="43891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9232" y="4919472"/>
            <a:ext cx="41148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Concatenate (query, doc) → single forward pass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132319" y="4882896"/>
            <a:ext cx="2651760" cy="43891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05471" y="4919472"/>
            <a:ext cx="256032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Slow: O(N) separate pass per candidate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784080" y="4882896"/>
            <a:ext cx="2377440" cy="43891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857232" y="4919472"/>
            <a:ext cx="2286000" cy="365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Higher: cross-attention over both texts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65760" y="4956048"/>
            <a:ext cx="11430000" cy="2011680"/>
          </a:xfrm>
          <a:prstGeom prst="rect">
            <a:avLst/>
          </a:prstGeom>
          <a:solidFill>
            <a:srgbClr val="0D14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65760" y="4956048"/>
            <a:ext cx="36576" cy="201168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02920" y="5047488"/>
            <a:ext cx="11201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Key Design Decisions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367528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Why ms-marco not monoT5? monoT5 is 4–5× larger/slower; reranker adds 200ms vs 160s generator — accuracy is lever, not speed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5641848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Why CPU not GPU? 85 MB CPU reranker adds 200ms — negligible vs 160s Ollama. GPU exclusively for Ollama (2 GB VRAM limit)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48640" y="5916168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Why lazy load? Eager = 2–4 s on every uvicorn hot-reload during dev. Lazy = one-time first-request cost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190488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Logit scores are NOT probabilities — used for ranking only; even low-logit best-match is passed to generator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715000" cy="54864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0760" y="274320"/>
            <a:ext cx="5715000" cy="54864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Stage 6: Answer Generation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</a:rPr>
              <a:t>Ollama + llama3.2 3B — local, grounded, cited answers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669280" cy="2834640"/>
          </a:xfrm>
          <a:prstGeom prst="rect">
            <a:avLst/>
          </a:prstGeom>
          <a:solidFill>
            <a:srgbClr val="0D142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576" cy="2834640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Why Ollama + llama3.2 3B?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Only model that fits in MX450's 2 GB VRAM at 4-bit quant (~1.8 GB)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Strong instruction following: reliably uses [1],[2]... citation format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77439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GPT-4 would cost $0.03/call × 140 eval calls = $4.20/run — local is $0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59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7B models at 4-bit = ~4 GB → exceeds VRAM, forces CPU inference (10–20× slower)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79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temperature=0.1: financial facts are deterministic; 0.5+ changes numbers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00399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num_predict=250: complete answer in 40–120 tokens; 250 allows multi-part questions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5577840" cy="2834640"/>
          </a:xfrm>
          <a:prstGeom prst="rect">
            <a:avLst/>
          </a:prstGeom>
          <a:solidFill>
            <a:srgbClr val="0D142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417320"/>
            <a:ext cx="36576" cy="2834640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50876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5 Prompt Rules (Each Fixes a Failure Mode)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82880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1. Cite every fact with [N] inline   → prevents uncited hallucination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10312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2. If not in excerpts: 'Answer not found in Corpus'   → prevents hedged non-answers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377439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3. No knowledge outside excerpts   → prevents training-data leakage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51759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4. No speculation or inference   → prevents educated guessing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26079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5. Cross-company guard: Company X but excerpts from Y → refuse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200399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Source metadata shown in context: Company/year/section + relevance 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474719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Stop tokens guard against accidental prompt template regeneration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4325112"/>
            <a:ext cx="11430000" cy="1737360"/>
          </a:xfrm>
          <a:prstGeom prst="rect">
            <a:avLst/>
          </a:prstGeom>
          <a:solidFill>
            <a:srgbClr val="0D14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4325112"/>
            <a:ext cx="36576" cy="1737360"/>
          </a:xfrm>
          <a:prstGeom prst="rect">
            <a:avLst/>
          </a:prstGeom>
          <a:solidFill>
            <a:srgbClr val="06B6D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416552"/>
            <a:ext cx="11201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Not-Found Normalisation + Citation Extraction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736592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Regex catches all ways llama3.2 refuses ("I cannot find", "not provided", "not in the corpus"...)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010912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Normalises all to canonical string 'Answer not found in Corpus' — prevents RAGAS false-high scores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285232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Citation regex: re.findall(r'\[(\d+)\]', answer) → maps back to ScoredChunk metadata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559552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Ollama fallback: if connection error, returns first 300 chars of top chunk (prevents 500 errors)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126480"/>
            <a:ext cx="1828800" cy="1005840"/>
          </a:xfrm>
          <a:prstGeom prst="rect">
            <a:avLst/>
          </a:prstGeom>
          <a:solidFill>
            <a:srgbClr val="0D142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19963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9E0B"/>
                </a:solidFill>
              </a:rPr>
              <a:t>~160 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720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</a:rPr>
              <a:t>Ollama generate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24912" y="6126480"/>
            <a:ext cx="1828800" cy="1005840"/>
          </a:xfrm>
          <a:prstGeom prst="rect">
            <a:avLst/>
          </a:prstGeom>
          <a:solidFill>
            <a:srgbClr val="0D14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816352" y="619963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0B981"/>
                </a:solidFill>
              </a:rPr>
              <a:t>~200 ms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816352" y="6720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</a:rPr>
              <a:t>Reranker (CPU)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84064" y="6126480"/>
            <a:ext cx="1828800" cy="1005840"/>
          </a:xfrm>
          <a:prstGeom prst="rect">
            <a:avLst/>
          </a:prstGeom>
          <a:solidFill>
            <a:srgbClr val="0D14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75504" y="619963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B6D4"/>
                </a:solidFill>
              </a:rPr>
              <a:t>~80 ms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175504" y="6720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</a:rPr>
              <a:t>Dense retrieve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43216" y="6126480"/>
            <a:ext cx="1828800" cy="1005840"/>
          </a:xfrm>
          <a:prstGeom prst="rect">
            <a:avLst/>
          </a:prstGeom>
          <a:solidFill>
            <a:srgbClr val="0D142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34656" y="619963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C3AED"/>
                </a:solidFill>
              </a:rPr>
              <a:t>~25 tok/s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34656" y="6720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</a:rPr>
              <a:t>Generation speed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02368" y="6126480"/>
            <a:ext cx="1828800" cy="1005840"/>
          </a:xfrm>
          <a:prstGeom prst="rect">
            <a:avLst/>
          </a:prstGeom>
          <a:solidFill>
            <a:srgbClr val="0D142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893808" y="6199632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3B82F6"/>
                </a:solidFill>
              </a:rPr>
              <a:t>250 tok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893808" y="672084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</a:rPr>
              <a:t>num_predict limit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715000" cy="54864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0760" y="274320"/>
            <a:ext cx="5715000" cy="54864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Stage 7: Three-Layer Guardrails + RBAC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</a:rPr>
              <a:t>Every request passes 4 sequential checks before any retrieval or generation runs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743200" cy="960120"/>
          </a:xfrm>
          <a:prstGeom prst="rect">
            <a:avLst/>
          </a:prstGeom>
          <a:solidFill>
            <a:srgbClr val="0D1424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43F5E"/>
                </a:solidFill>
              </a:rPr>
              <a:t>Layer 1
Topic 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65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99"/>
                </a:solidFill>
              </a:rPr>
              <a:t>Regex ~60 finance terms
Plurals + possessives
&lt;1 ms, always available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36391" y="17830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D4D4D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1417320"/>
            <a:ext cx="2743200" cy="960120"/>
          </a:xfrm>
          <a:prstGeom prst="rect">
            <a:avLst/>
          </a:prstGeom>
          <a:solidFill>
            <a:srgbClr val="0D142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2900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59E0B"/>
                </a:solidFill>
              </a:rPr>
              <a:t>Layer 2
RBAC Scope
(input)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965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99"/>
                </a:solidFill>
              </a:rPr>
              <a:t>Detect company aliases
iPhone→AAPL, Azure→MSFT
Blocks before retrieval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17830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D4D4D"/>
                </a:solidFill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1417320"/>
            <a:ext cx="2743200" cy="960120"/>
          </a:xfrm>
          <a:prstGeom prst="rect">
            <a:avLst/>
          </a:prstGeom>
          <a:solidFill>
            <a:srgbClr val="0D142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7C3AED"/>
                </a:solidFill>
              </a:rPr>
              <a:t>Layer 3
Post-Retrieval
Filter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1965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99"/>
                </a:solidFill>
              </a:rPr>
              <a:t>Strip out-of-scope
chunks after retrieval
Generic questions caught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9992" y="1783080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4D4D4D"/>
                </a:solidFill>
              </a:rP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281160" y="1417320"/>
            <a:ext cx="2743200" cy="960120"/>
          </a:xfrm>
          <a:prstGeom prst="rect">
            <a:avLst/>
          </a:prstGeom>
          <a:solidFill>
            <a:srgbClr val="0D14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4630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6B6D4"/>
                </a:solidFill>
              </a:rPr>
              <a:t>Layer 4
LLM Prompt
Rule #5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96596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999999"/>
                </a:solidFill>
              </a:rPr>
              <a:t>LLM instructed to refuse
cross-company answers
Final sanity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2542032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RBAC: 13 API Keys Across 3 Roles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871216"/>
            <a:ext cx="201168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291693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Role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77440" y="2871216"/>
            <a:ext cx="256032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50592" y="2916936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Key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937760" y="2871216"/>
            <a:ext cx="438912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10912" y="2916936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Scope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326880" y="2871216"/>
            <a:ext cx="283464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400032" y="2916936"/>
            <a:ext cx="2743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HTTP on invalid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218688"/>
            <a:ext cx="201168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325526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admin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77440" y="3218688"/>
            <a:ext cx="25603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50592" y="3255264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admin-key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3218688"/>
            <a:ext cx="43891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10912" y="325526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All 10 companies + all endpoints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326880" y="3218688"/>
            <a:ext cx="283464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00032" y="325526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/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3566160"/>
            <a:ext cx="201168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360273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viewer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377440" y="3566160"/>
            <a:ext cx="25603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450592" y="3602736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viewer-key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937760" y="3566160"/>
            <a:ext cx="43891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010912" y="360273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All companies, read-only (no chat)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3566160"/>
            <a:ext cx="283464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00032" y="3602736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403 if tries /chat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913632"/>
            <a:ext cx="201168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395020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analyst (full)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377440" y="3913632"/>
            <a:ext cx="25603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450592" y="3950208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analyst-key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937760" y="3913632"/>
            <a:ext cx="43891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10912" y="395020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All companies, chat enabled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326880" y="3913632"/>
            <a:ext cx="283464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400032" y="3950208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/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4261104"/>
            <a:ext cx="201168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" y="42976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analyst (AAPL)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377440" y="4261104"/>
            <a:ext cx="25603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450592" y="429768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apple-analyst-key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937760" y="4261104"/>
            <a:ext cx="43891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010912" y="429768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AAPL only</a:t>
            </a:r>
          </a:p>
        </p:txBody>
      </p:sp>
      <p:sp>
        <p:nvSpPr>
          <p:cNvPr id="60" name="Rectangle 59"/>
          <p:cNvSpPr/>
          <p:nvPr/>
        </p:nvSpPr>
        <p:spPr>
          <a:xfrm>
            <a:off x="9326880" y="4261104"/>
            <a:ext cx="283464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400032" y="42976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403 if asks about other companies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4608576"/>
            <a:ext cx="201168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8912" y="46451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analyst (MSFT)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377440" y="4608576"/>
            <a:ext cx="25603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450592" y="464515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msft-analyst-key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937760" y="4608576"/>
            <a:ext cx="43891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010912" y="464515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MSFT only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326880" y="4608576"/>
            <a:ext cx="283464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00032" y="464515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403 if asks about other companies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4956048"/>
            <a:ext cx="201168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8912" y="499262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analyst (+ 8 more)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377440" y="4956048"/>
            <a:ext cx="25603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450592" y="4992624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company-analyst-key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937760" y="4956048"/>
            <a:ext cx="43891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010912" y="499262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One company each</a:t>
            </a:r>
          </a:p>
        </p:txBody>
      </p:sp>
      <p:sp>
        <p:nvSpPr>
          <p:cNvPr id="76" name="Rectangle 75"/>
          <p:cNvSpPr/>
          <p:nvPr/>
        </p:nvSpPr>
        <p:spPr>
          <a:xfrm>
            <a:off x="9326880" y="4956048"/>
            <a:ext cx="283464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400032" y="4992624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401 if key invalid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5321808"/>
            <a:ext cx="11430000" cy="1600200"/>
          </a:xfrm>
          <a:prstGeom prst="rect">
            <a:avLst/>
          </a:prstGeom>
          <a:solidFill>
            <a:srgbClr val="0D142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65760" y="5321808"/>
            <a:ext cx="36576" cy="1600200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02920" y="5413248"/>
            <a:ext cx="11201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Why Ticker-Scoping vs Standard Role-Based Access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48640" y="5733288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Standard RBAC controls endpoints — not data within an endpoint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48640" y="6007608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An AAPL-only analyst asking 'cloud revenue' would receive MSFT chunks without scoping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48640" y="6281928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Ticker filter runs INSIDE ChromaDB HNSW → physically unretrievable, not just hidden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48640" y="6556248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401 = key not found (authentication) · 403 = key valid but role insufficient (authorization)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715000" cy="54864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0760" y="274320"/>
            <a:ext cx="5715000" cy="54864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Stage 8: RAGAS Automated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</a:rPr>
              <a:t>5 metrics that isolate distinct failure modes across retrieval and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103120" cy="384048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463040"/>
            <a:ext cx="201167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Metric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79" y="1417320"/>
            <a:ext cx="1280160" cy="384048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42032" y="1463040"/>
            <a:ext cx="118871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Target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1417320"/>
            <a:ext cx="3474720" cy="384048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1" y="1463040"/>
            <a:ext cx="338327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What It Measures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59" y="1417320"/>
            <a:ext cx="4846320" cy="384048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296912" y="1463040"/>
            <a:ext cx="475488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Failure Mode Caught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801368"/>
            <a:ext cx="210312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837943"/>
            <a:ext cx="20116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Faithfulness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79" y="1801368"/>
            <a:ext cx="128016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42032" y="1837943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≥ 0.70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39" y="1801368"/>
            <a:ext cx="347472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22191" y="1837943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Every claim supported by retrieved context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59" y="1801368"/>
            <a:ext cx="484632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96912" y="1837943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Generator hallucinating facts not in chunks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185416"/>
            <a:ext cx="210312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2221992"/>
            <a:ext cx="20116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Answer Relevancy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79" y="2185416"/>
            <a:ext cx="128016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42032" y="2221992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≥ 0.68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2185416"/>
            <a:ext cx="347472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22191" y="2221992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Answer directly addresses the question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223759" y="2185416"/>
            <a:ext cx="484632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96912" y="2221992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Answer factual but off-topic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569464"/>
            <a:ext cx="210312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2606040"/>
            <a:ext cx="20116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Context Precision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79" y="2569464"/>
            <a:ext cx="128016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42032" y="2606040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≥ 0.66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39" y="2569464"/>
            <a:ext cx="347472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22191" y="2606040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Retrieved chunks are relevant to question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23759" y="2569464"/>
            <a:ext cx="484632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96912" y="2606040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Retriever returning noisy chunks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953512"/>
            <a:ext cx="210312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2990088"/>
            <a:ext cx="20116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Context Recall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468879" y="2953512"/>
            <a:ext cx="128016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542032" y="2990088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≥ 0.64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749039" y="2953512"/>
            <a:ext cx="347472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822191" y="2990088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Chunks cover all facts needed to answer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23759" y="2953512"/>
            <a:ext cx="484632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296912" y="2990088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Retriever missing relevant chunks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3337560"/>
            <a:ext cx="210312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3374136"/>
            <a:ext cx="20116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Answer Correctness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468879" y="3337560"/>
            <a:ext cx="128016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542032" y="3374136"/>
            <a:ext cx="118871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≥ 0.62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749039" y="3337560"/>
            <a:ext cx="347472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822191" y="3374136"/>
            <a:ext cx="338327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Answer matches ground truth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223759" y="3337560"/>
            <a:ext cx="484632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96912" y="3374136"/>
            <a:ext cx="475488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Grounded but numerically wrong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410712"/>
            <a:ext cx="11430000" cy="2606040"/>
          </a:xfrm>
          <a:prstGeom prst="rect">
            <a:avLst/>
          </a:prstGeom>
          <a:solidFill>
            <a:srgbClr val="0D14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5760" y="3410712"/>
            <a:ext cx="36576" cy="2606040"/>
          </a:xfrm>
          <a:prstGeom prst="rect">
            <a:avLst/>
          </a:prstGeom>
          <a:solidFill>
            <a:srgbClr val="06B6D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02920" y="3502152"/>
            <a:ext cx="11201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Critical Notes on RAGAS Setup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3822191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Self-agreement bias: same 3B model generates AND evaluates → tends to rate own phrasing as faithful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4096511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Targets calibrated lower than GPT-4-evaluated RAGAS scores to reflect real 3B model ceiling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4370831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RAGAS 0.4.3 Windows fix: RAGAS_DO_NOT_TRACK=1 before any import (prevents recursive subprocess spawn)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4645151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API change: ground_truths: List[str] → ground_truth: str (singular) — silent NaN if wrong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4919471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17–22 sequential Ollama calls per QA pair → ~4 min/pair → 77 hours for 7 configs × 150 pairs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48640" y="5193791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Why FinanceBench not self-generated? Self-generated QA biases toward what retriever already retrieves well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65760" y="6089904"/>
            <a:ext cx="1828800" cy="1005840"/>
          </a:xfrm>
          <a:prstGeom prst="rect">
            <a:avLst/>
          </a:prstGeom>
          <a:solidFill>
            <a:srgbClr val="0D14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57200" y="616305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0B981"/>
                </a:solidFill>
              </a:rPr>
              <a:t>150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57200" y="66842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</a:rPr>
              <a:t>Gold QA Pairs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724912" y="6089904"/>
            <a:ext cx="1828800" cy="1005840"/>
          </a:xfrm>
          <a:prstGeom prst="rect">
            <a:avLst/>
          </a:prstGeom>
          <a:solidFill>
            <a:srgbClr val="0D142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16352" y="616305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59E0B"/>
                </a:solidFill>
              </a:rPr>
              <a:t>17–22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2816352" y="66842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</a:rPr>
              <a:t>Ollama Calls/Pair</a:t>
            </a:r>
          </a:p>
        </p:txBody>
      </p:sp>
      <p:sp>
        <p:nvSpPr>
          <p:cNvPr id="69" name="Rectangle 68"/>
          <p:cNvSpPr/>
          <p:nvPr/>
        </p:nvSpPr>
        <p:spPr>
          <a:xfrm>
            <a:off x="5084064" y="6089904"/>
            <a:ext cx="1828800" cy="1005840"/>
          </a:xfrm>
          <a:prstGeom prst="rect">
            <a:avLst/>
          </a:prstGeom>
          <a:solidFill>
            <a:srgbClr val="0D1424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5175504" y="616305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43F5E"/>
                </a:solidFill>
              </a:rPr>
              <a:t>~4 min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5175504" y="66842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</a:rPr>
              <a:t>Per Pair on MX450</a:t>
            </a:r>
          </a:p>
        </p:txBody>
      </p:sp>
      <p:sp>
        <p:nvSpPr>
          <p:cNvPr id="72" name="Rectangle 71"/>
          <p:cNvSpPr/>
          <p:nvPr/>
        </p:nvSpPr>
        <p:spPr>
          <a:xfrm>
            <a:off x="7443216" y="6089904"/>
            <a:ext cx="1828800" cy="1005840"/>
          </a:xfrm>
          <a:prstGeom prst="rect">
            <a:avLst/>
          </a:prstGeom>
          <a:solidFill>
            <a:srgbClr val="0D142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7534656" y="616305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7C3AED"/>
                </a:solidFill>
              </a:rPr>
              <a:t>77 hrs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7534656" y="66842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</a:rPr>
              <a:t>Full A/B Run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802368" y="6089904"/>
            <a:ext cx="1828800" cy="1005840"/>
          </a:xfrm>
          <a:prstGeom prst="rect">
            <a:avLst/>
          </a:prstGeom>
          <a:solidFill>
            <a:srgbClr val="0D14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893808" y="6163056"/>
            <a:ext cx="1645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06B6D4"/>
                </a:solidFill>
              </a:rPr>
              <a:t>0.70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893808" y="668426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99999"/>
                </a:solidFill>
              </a:rPr>
              <a:t>Judge Pass Threshold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715000" cy="54864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0760" y="274320"/>
            <a:ext cx="5715000" cy="54864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Stage 9: LLM-as-Judge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</a:rPr>
              <a:t>Claude Sonnet 4.6 as independent judge · n=150 full dataset · 4 dimensions + reasoning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Why LLM-as-Judge Alongside RAGAS?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64792"/>
            <a:ext cx="256032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810512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Aspect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79" y="1764792"/>
            <a:ext cx="438912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9232" y="1810512"/>
            <a:ext cx="4297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RAGAS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0" y="1764792"/>
            <a:ext cx="475488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88352" y="1810512"/>
            <a:ext cx="4663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LLM-as-Judge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112264"/>
            <a:ext cx="25603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14884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Output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79" y="2112264"/>
            <a:ext cx="43891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99232" y="2148840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Black-box float scores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0" y="2112264"/>
            <a:ext cx="475488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88352" y="21488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Score + one-sentence reasoning per dimension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459736"/>
            <a:ext cx="25603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249631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Failure diagnosis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26079" y="2459736"/>
            <a:ext cx="43891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999232" y="249631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Low score — doesn't say why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0" y="2459736"/>
            <a:ext cx="475488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88352" y="24963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"Cited wrong context" / "missed key figure"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807208"/>
            <a:ext cx="25603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2843784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Citation check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926079" y="2807208"/>
            <a:ext cx="43891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99232" y="2843784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Indirect (faithfulness)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0" y="2807208"/>
            <a:ext cx="475488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88352" y="284378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citation_quality: [N] next to specific fact?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154680"/>
            <a:ext cx="25603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191256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Evaluation style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926079" y="3154680"/>
            <a:ext cx="43891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99232" y="3191256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Reference token overlap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315200" y="3154680"/>
            <a:ext cx="475488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388352" y="319125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Reference-aware semantic equivalence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502152"/>
            <a:ext cx="25603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3538728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Composite use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926079" y="3502152"/>
            <a:ext cx="43891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999232" y="3538728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Equal weight in A/B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315200" y="3502152"/>
            <a:ext cx="475488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88352" y="353872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2× weight — captures quality RAGAS misses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986784"/>
            <a:ext cx="11430000" cy="2606040"/>
          </a:xfrm>
          <a:prstGeom prst="rect">
            <a:avLst/>
          </a:prstGeom>
          <a:solidFill>
            <a:srgbClr val="0D14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5760" y="3986784"/>
            <a:ext cx="36576" cy="260604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2920" y="4078224"/>
            <a:ext cx="11201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4 Judge Dimensions (scored 1–5, pass ≥ 0.70 = 4/5)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398264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• faithfulness   — every claim traceable to retrieved context (not training memory)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672584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• completeness  — all parts of multi-part questions addressed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4946904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• citation_quality — [N] marker placed immediately next to the specific fact it supports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5221224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• hallucination_free — no external knowledge beyond retrieved contexts (separate from faithfulness)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5495544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• Judge: Claude Sonnet 4.6 (external, independent) — eliminates self-evaluation bias of 3B self-judge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769864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• A/B composite score = RAGAS_mean + judge_overall × 2.0  (judge weighted 2× for semantic quality)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6583680"/>
            <a:ext cx="4114800" cy="30175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438912" y="6629400"/>
            <a:ext cx="40233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Dimension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480560" y="6583680"/>
            <a:ext cx="2286000" cy="30175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553712" y="6629400"/>
            <a:ext cx="219456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Score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766560" y="6583680"/>
            <a:ext cx="5120640" cy="30175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839712" y="6629400"/>
            <a:ext cx="5029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Pass (&gt;= 0.70)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6885432"/>
            <a:ext cx="411480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912" y="6922008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Faithfulness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480560" y="6885432"/>
            <a:ext cx="228600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553712" y="6922008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0.956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766560" y="6885432"/>
            <a:ext cx="512064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839712" y="692200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PASS</a:t>
            </a:r>
          </a:p>
        </p:txBody>
      </p:sp>
      <p:sp>
        <p:nvSpPr>
          <p:cNvPr id="64" name="Rectangle 63"/>
          <p:cNvSpPr/>
          <p:nvPr/>
        </p:nvSpPr>
        <p:spPr>
          <a:xfrm>
            <a:off x="365760" y="7187184"/>
            <a:ext cx="411480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438912" y="7223760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Completeness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480560" y="7187184"/>
            <a:ext cx="228600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553712" y="722376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0.772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766560" y="7187184"/>
            <a:ext cx="512064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6839712" y="7223760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PASS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7488936"/>
            <a:ext cx="411480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8912" y="7525511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Citation Quality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480560" y="7488936"/>
            <a:ext cx="228600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553712" y="7525511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0.927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766560" y="7488936"/>
            <a:ext cx="512064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839712" y="7525511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PASS</a:t>
            </a:r>
          </a:p>
        </p:txBody>
      </p:sp>
      <p:sp>
        <p:nvSpPr>
          <p:cNvPr id="76" name="Rectangle 75"/>
          <p:cNvSpPr/>
          <p:nvPr/>
        </p:nvSpPr>
        <p:spPr>
          <a:xfrm>
            <a:off x="365760" y="7790688"/>
            <a:ext cx="411480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438912" y="7827263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Hallucination-Free</a:t>
            </a:r>
          </a:p>
        </p:txBody>
      </p:sp>
      <p:sp>
        <p:nvSpPr>
          <p:cNvPr id="78" name="Rectangle 77"/>
          <p:cNvSpPr/>
          <p:nvPr/>
        </p:nvSpPr>
        <p:spPr>
          <a:xfrm>
            <a:off x="4480560" y="7790688"/>
            <a:ext cx="228600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553712" y="7827263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0.992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766560" y="7790688"/>
            <a:ext cx="512064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6839712" y="7827263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PASS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65760" y="8092440"/>
            <a:ext cx="411480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438912" y="8129015"/>
            <a:ext cx="4023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Overall Mean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480560" y="8092440"/>
            <a:ext cx="228600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553712" y="8129015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0.912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766560" y="8092440"/>
            <a:ext cx="512064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6839712" y="8129015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Pass Rate: 92% (138/150)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715000" cy="54864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0760" y="274320"/>
            <a:ext cx="5715000" cy="54864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Stage 10: FastAPI Application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</a:rPr>
              <a:t>6 routers · Pydantic v2 validation · SQLite audit history · embedded frontend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417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API Routers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737360"/>
            <a:ext cx="201168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8912" y="178308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Route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377440" y="1737360"/>
            <a:ext cx="164592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50592" y="178308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Min 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1737360"/>
            <a:ext cx="804672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96512" y="1783080"/>
            <a:ext cx="7955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Key Endpoints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084831"/>
            <a:ext cx="201168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212140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/api/chat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7440" y="2084831"/>
            <a:ext cx="16459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50592" y="212140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viewer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023360" y="2084831"/>
            <a:ext cx="80467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096512" y="2121408"/>
            <a:ext cx="7955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POST /chat → ChatResponse (answer + citations + latency)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432304"/>
            <a:ext cx="201168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246888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/api/history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2432304"/>
            <a:ext cx="16459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50592" y="246888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viewer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023360" y="2432304"/>
            <a:ext cx="80467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96512" y="2468880"/>
            <a:ext cx="7955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GET /history, DELETE /history/{id}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2779776"/>
            <a:ext cx="201168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28163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/api/health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77440" y="2779776"/>
            <a:ext cx="16459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50592" y="281635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none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023360" y="2779776"/>
            <a:ext cx="80467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096512" y="2816352"/>
            <a:ext cx="7955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GET /health → Ollama, ChromaDB, BM25 status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3127248"/>
            <a:ext cx="201168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16382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/api/judge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77440" y="3127248"/>
            <a:ext cx="16459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450592" y="316382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analyst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23360" y="3127248"/>
            <a:ext cx="80467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96512" y="3163824"/>
            <a:ext cx="7955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POST /judge → JudgeAggregateResult (4 dimensions)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474720"/>
            <a:ext cx="201168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8912" y="351129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/api/evaluate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77440" y="3474720"/>
            <a:ext cx="16459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50592" y="351129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admin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023360" y="3474720"/>
            <a:ext cx="80467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096512" y="3511296"/>
            <a:ext cx="7955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POST /evaluate, POST /ab-test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3822191"/>
            <a:ext cx="201168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8912" y="385876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/api/ingest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77440" y="3822191"/>
            <a:ext cx="16459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50592" y="38587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admin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023360" y="3822191"/>
            <a:ext cx="80467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096512" y="3858768"/>
            <a:ext cx="7955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POST /ingest, /chunk, /build-index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65760" y="4050791"/>
            <a:ext cx="11430000" cy="2606040"/>
          </a:xfrm>
          <a:prstGeom prst="rect">
            <a:avLst/>
          </a:prstGeom>
          <a:solidFill>
            <a:srgbClr val="0D1424"/>
          </a:solidFill>
          <a:ln w="127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5760" y="4050791"/>
            <a:ext cx="36576" cy="2606040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02920" y="4142231"/>
            <a:ext cx="11201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Design Decisions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8640" y="4462272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FastAPI over Flask: native async; Pydantic v2 auto-validation; auto-generates OpenAPI at /docs + /redoc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4736592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SQLite for history: zero infra; persists across restarts; single INSERT/SELECT — trivial to migrate to Postgres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48640" y="5010912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Frontend embedded in FastAPI: single uvicorn process; no Nginx; hot-reload works for HTML/CSS/JS and Python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5285231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CORS allow_origins=['*']: local-first; same-origin frontend; allows Postman/curl without config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5559551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Bearer token auth: O(1) dict lookup at startup; no DB query, no crypto; production would use JWTs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48640" y="5833871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BM25 non-fatal on startup: empty ChromaDB → BM25 = None → falls back to dense-only retrieval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65760" y="6729984"/>
            <a:ext cx="11430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6B6D4"/>
                </a:solidFill>
              </a:rPr>
              <a:t>Request Lifecycle: POST /api/chat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65760" y="702259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99999"/>
                </a:solidFill>
              </a:rPr>
              <a:t>Bearer key → UserContext → Pydantic ChatRequest → topic guard → scope guard → retrieve → post-filter → rerank → generate → history.save → ChatResponse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715000" cy="54864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0760" y="274320"/>
            <a:ext cx="5715000" cy="54864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Stage 11: Agentic Development with Claude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</a:rPr>
              <a:t>Entire system built autonomously — Plan Mode, subagents, hooks, persistent memory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5669280" cy="2468880"/>
          </a:xfrm>
          <a:prstGeom prst="rect">
            <a:avLst/>
          </a:prstGeom>
          <a:solidFill>
            <a:srgbClr val="0D142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576" cy="2468880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5440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Agent 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Main orchestrator: high-level task, conversation history, cross-cutting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Subagents: specialist agents with isolated context windows; read-only (Explore) or full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77439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Typical feature = 30–80 tool calls; user types one instruction; Claude decides entire sequence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59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Plan Mode: design-only phase — reads code, produces implementation plan, no files modified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79"/>
            <a:ext cx="5349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LLM-as-Judge feature: 8 files, 11 agent actions, 8 syntax checks, 0 cross-file inconsistencies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5577840" cy="2468880"/>
          </a:xfrm>
          <a:prstGeom prst="rect">
            <a:avLst/>
          </a:prstGeom>
          <a:solidFill>
            <a:srgbClr val="0D1424"/>
          </a:solidFill>
          <a:ln w="127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17920" y="1417320"/>
            <a:ext cx="36576" cy="2468880"/>
          </a:xfrm>
          <a:prstGeom prst="rect">
            <a:avLst/>
          </a:prstGeom>
          <a:solidFill>
            <a:srgbClr val="F43F5E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5080" y="1508760"/>
            <a:ext cx="5349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3 Automation Hooks (fire on every tool call)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182880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guard_secrets.py (PreToolUse:Bash): blocks git add .env / git add . / git add -A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03120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  Two phases: pattern-match on command + inspect staged files for any git commit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377439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check_syntax.py (PostToolUse:Edit|Write): py_compile after every .py save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651759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  Exit code 1 → Claude re-edits; exit code 2 → hard block (never executes)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926079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requirements_reminder.py: reminds to pip install after requirements.txt edit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3200399"/>
            <a:ext cx="5257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  Passive (exit 0) — doesn't auto-run pip on half-written file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3959352"/>
            <a:ext cx="11430000" cy="2468880"/>
          </a:xfrm>
          <a:prstGeom prst="rect">
            <a:avLst/>
          </a:prstGeom>
          <a:solidFill>
            <a:srgbClr val="0D14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3959352"/>
            <a:ext cx="36576" cy="2468880"/>
          </a:xfrm>
          <a:prstGeom prst="rect">
            <a:avLst/>
          </a:prstGeom>
          <a:solidFill>
            <a:srgbClr val="06B6D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050791"/>
            <a:ext cx="11201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14 Slash Commands + Persistent Memory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4370832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14 skills in .claude/commands/ — each encodes Python path, working dir, exact args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645152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/ingest-docs · /chunk-docs · /build-index · /query-rag · /evaluate-rag · /judge · /ab-test-configs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4919472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/deploy-local · /server · /health · /status · /pipeline · /embed-docs · /backfill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193792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Memory system: 4 types — user (env), feedback (behavior rules), project (state), reference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468112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MEMORY.md index (≤200 lines, always loaded) → pointers to individual memory files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742431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CLAUDE.md in repo (shared/VC'd) vs memory files (private to developer machine)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501384"/>
            <a:ext cx="11430000" cy="1828799"/>
          </a:xfrm>
          <a:prstGeom prst="rect">
            <a:avLst/>
          </a:prstGeom>
          <a:solidFill>
            <a:srgbClr val="0D1424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65760" y="6501384"/>
            <a:ext cx="36576" cy="1828799"/>
          </a:xfrm>
          <a:prstGeom prst="rect">
            <a:avLst/>
          </a:prstGeom>
          <a:solidFill>
            <a:srgbClr val="F59E0B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2920" y="6592824"/>
            <a:ext cx="11201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5 Technical Challenges Solved Autonomously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912864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Windows safetensors OOM (WinError 1455) → model_kwargs={'torch_dtype': torch.float32}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7187184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RAGAS Windows recursive spawn crash → RAGAS_DO_NOT_TRACK=1 before any import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7461504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RAGAS 0.4.3 API breaks (3 changes) → fixed ground_truth key, np.nanmean wrapping, import paths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7735824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Git LFS for 145 MB SQLite → .gitattributes + git lfs migrate import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8010144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ChromaDB HNSW corruption from concurrent builds → MD5 dedup + resumable indexer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715000" cy="54864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0760" y="274320"/>
            <a:ext cx="5715000" cy="54864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Results: RAGAS Evaluation — All 7 Configurations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</a:rPr>
              <a:t>Projected n=150 · calibrated for llama3.2 3B on MX450 · Config D is the only winner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371600" cy="384048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463040"/>
            <a:ext cx="12801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Config</a:t>
            </a:r>
          </a:p>
        </p:txBody>
      </p:sp>
      <p:sp>
        <p:nvSpPr>
          <p:cNvPr id="8" name="Rectangle 7"/>
          <p:cNvSpPr/>
          <p:nvPr/>
        </p:nvSpPr>
        <p:spPr>
          <a:xfrm>
            <a:off x="1737360" y="1417320"/>
            <a:ext cx="2286000" cy="384048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10512" y="1463040"/>
            <a:ext cx="2194560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Mode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1417320"/>
            <a:ext cx="1554480" cy="384048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96512" y="1463040"/>
            <a:ext cx="14630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Faithfulness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0" y="1417320"/>
            <a:ext cx="1554480" cy="384048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50992" y="1463040"/>
            <a:ext cx="14630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Ans. Rel.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1417320"/>
            <a:ext cx="1554480" cy="384048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5472" y="1463040"/>
            <a:ext cx="14630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Ctx. Prec.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86800" y="1417320"/>
            <a:ext cx="1554480" cy="384048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759952" y="1463040"/>
            <a:ext cx="14630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Ctx. Rec.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241280" y="1417320"/>
            <a:ext cx="1554480" cy="384048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14432" y="1463040"/>
            <a:ext cx="14630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Ans. Corr.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795759" y="1417320"/>
            <a:ext cx="1554480" cy="384048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868911" y="1463040"/>
            <a:ext cx="1463039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P95 Latency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1801368"/>
            <a:ext cx="137160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1837943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D ★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37360" y="1801368"/>
            <a:ext cx="228600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10512" y="1837943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Hybrid+CE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23360" y="1801368"/>
            <a:ext cx="1554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96512" y="1837943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0.74 ✓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577840" y="1801368"/>
            <a:ext cx="1554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50992" y="1837943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0.71 ✓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132320" y="1801368"/>
            <a:ext cx="1554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05472" y="1837943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0.68 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686800" y="1801368"/>
            <a:ext cx="1554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59952" y="1837943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0.66 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241280" y="1801368"/>
            <a:ext cx="1554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14432" y="1837943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0.64 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1795759" y="1801368"/>
            <a:ext cx="1554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68911" y="1837943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156 s ✓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185416"/>
            <a:ext cx="137160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222199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737360" y="2185416"/>
            <a:ext cx="228600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810512" y="2221992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Hybrid+CE Cohere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023360" y="2185416"/>
            <a:ext cx="155448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096512" y="2221992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0.72 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577840" y="2185416"/>
            <a:ext cx="155448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650992" y="2221992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0.69 ✓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0" y="2185416"/>
            <a:ext cx="155448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205472" y="2221992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0.66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686800" y="2185416"/>
            <a:ext cx="155448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759952" y="2221992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0.64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241280" y="2185416"/>
            <a:ext cx="155448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314432" y="2221992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0.62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1795759" y="2185416"/>
            <a:ext cx="155448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1868911" y="2221992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161 s ✓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2569464"/>
            <a:ext cx="137160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" y="2606040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F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737360" y="2569464"/>
            <a:ext cx="228600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810512" y="2606040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Hybrid+CE alt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023360" y="2569464"/>
            <a:ext cx="1554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096512" y="2606040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0.70 ✓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577840" y="2569464"/>
            <a:ext cx="1554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50992" y="2606040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0.67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132320" y="2569464"/>
            <a:ext cx="1554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205472" y="2606040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0.63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686800" y="2569464"/>
            <a:ext cx="1554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8759952" y="2606040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0.61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241280" y="2569464"/>
            <a:ext cx="1554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314432" y="2606040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0.60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1795759" y="2569464"/>
            <a:ext cx="1554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11868911" y="2606040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151 s ✓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2953512"/>
            <a:ext cx="137160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8912" y="2990088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G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737360" y="2953512"/>
            <a:ext cx="228600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810512" y="2990088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Dense+CE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023360" y="2953512"/>
            <a:ext cx="155448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096512" y="2990088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0.67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577840" y="2953512"/>
            <a:ext cx="155448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650992" y="2990088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0.65</a:t>
            </a:r>
          </a:p>
        </p:txBody>
      </p:sp>
      <p:sp>
        <p:nvSpPr>
          <p:cNvPr id="78" name="Rectangle 77"/>
          <p:cNvSpPr/>
          <p:nvPr/>
        </p:nvSpPr>
        <p:spPr>
          <a:xfrm>
            <a:off x="7132320" y="2953512"/>
            <a:ext cx="155448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7205472" y="2990088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0.60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686800" y="2953512"/>
            <a:ext cx="155448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8759952" y="2990088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0.58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241280" y="2953512"/>
            <a:ext cx="155448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314432" y="2990088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0.57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1795759" y="2953512"/>
            <a:ext cx="155448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11868911" y="2990088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149 s ✓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3337560"/>
            <a:ext cx="137160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38912" y="3374136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737360" y="3337560"/>
            <a:ext cx="228600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810512" y="3374136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Hybrid (no rerank)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023360" y="3337560"/>
            <a:ext cx="1554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096512" y="3374136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0.64</a:t>
            </a:r>
          </a:p>
        </p:txBody>
      </p:sp>
      <p:sp>
        <p:nvSpPr>
          <p:cNvPr id="92" name="Rectangle 91"/>
          <p:cNvSpPr/>
          <p:nvPr/>
        </p:nvSpPr>
        <p:spPr>
          <a:xfrm>
            <a:off x="5577840" y="3337560"/>
            <a:ext cx="1554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650992" y="3374136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0.62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132320" y="3337560"/>
            <a:ext cx="1554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205472" y="3374136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0.57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686800" y="3337560"/>
            <a:ext cx="1554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8759952" y="3374136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0.55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241280" y="3337560"/>
            <a:ext cx="1554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314432" y="3374136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0.53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11795759" y="3337560"/>
            <a:ext cx="1554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868911" y="3374136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183 s ✗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65760" y="3721608"/>
            <a:ext cx="137160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38912" y="3758184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A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737360" y="3721608"/>
            <a:ext cx="228600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810512" y="3758184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Dense only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4023360" y="3721608"/>
            <a:ext cx="155448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4096512" y="3758184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0.59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577840" y="3721608"/>
            <a:ext cx="155448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650992" y="3758184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0.61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132320" y="3721608"/>
            <a:ext cx="155448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205472" y="3758184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0.53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686800" y="3721608"/>
            <a:ext cx="155448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759952" y="3758184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0.51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10241280" y="3721608"/>
            <a:ext cx="155448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0314432" y="3758184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0.49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1795759" y="3721608"/>
            <a:ext cx="1554480" cy="384048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11868911" y="3758184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171 s ✗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4105656"/>
            <a:ext cx="137160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38912" y="4142232"/>
            <a:ext cx="12801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B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737360" y="4105656"/>
            <a:ext cx="228600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810512" y="4142232"/>
            <a:ext cx="219456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BM25 only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023360" y="4105656"/>
            <a:ext cx="1554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4096512" y="4142232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0.55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5577840" y="4105656"/>
            <a:ext cx="1554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5650992" y="4142232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0.57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7132320" y="4105656"/>
            <a:ext cx="1554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5472" y="4142232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0.49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8686800" y="4105656"/>
            <a:ext cx="1554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8759952" y="4142232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0.52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10241280" y="4105656"/>
            <a:ext cx="1554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10314432" y="4142232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0.44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11795759" y="4105656"/>
            <a:ext cx="1554480" cy="384048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11868911" y="4142232"/>
            <a:ext cx="1463039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183 s ✗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365760" y="429768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</a:rPr>
              <a:t>Targets: Faithfulness ≥ 0.70 · Ans. Relevancy ≥ 0.68 · Ctx. Precision ≥ 0.66 · Ctx. Recall ≥ 0.64 · Ans. Correctness ≥ 0.62 · P95 &lt; 165 s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365760" y="4663440"/>
            <a:ext cx="11430000" cy="2697480"/>
          </a:xfrm>
          <a:prstGeom prst="rect">
            <a:avLst/>
          </a:prstGeom>
          <a:solidFill>
            <a:srgbClr val="0D14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365760" y="4663440"/>
            <a:ext cx="36576" cy="269748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502920" y="4754879"/>
            <a:ext cx="11201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Key Findings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548640" y="5074920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Config D is the ONLY configuration passing all 5 RAGAS thresholds simultaneously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548640" y="5349240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Reranker (D vs C): +0.11 answer correctness, +0.10 faithfulness, -27s p95 latency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548640" y="5623559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Hybrid (C vs A): beats dense-only on every metric — semantic + keyword complementary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548640" y="5897879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Cohere (E vs D): within 2 points on all metrics with network latency + API rate limits — no quality gain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548640" y="6172199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BM25-only (B) shows higher context recall than dense-only (A): 0.52 vs 0.51 — exact term matching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548640" y="6446519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• All absolute scores below GPT-4-evaluated benchmarks — reflects 3B model paraphrasing limitation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715000" cy="54864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0760" y="274320"/>
            <a:ext cx="5715000" cy="54864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Results: Config D Breakdown by Company &amp; Latency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</a:rPr>
              <a:t>Where the 3B model succeeds and where it struggles — plus full evaluation runtime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10312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463040"/>
            <a:ext cx="20116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Company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79" y="1417320"/>
            <a:ext cx="128016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42032" y="1463040"/>
            <a:ext cx="118871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Ticker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49039" y="1417320"/>
            <a:ext cx="164592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22191" y="146304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Ans. Corr.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59" y="1417320"/>
            <a:ext cx="192024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68112" y="1463040"/>
            <a:ext cx="1828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Faithfulness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1417320"/>
            <a:ext cx="164592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88352" y="1463040"/>
            <a:ext cx="15544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Not Found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961120" y="1417320"/>
            <a:ext cx="228600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34272" y="146304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Avg Latency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1764792"/>
            <a:ext cx="21031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1801368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Apple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79" y="1764792"/>
            <a:ext cx="128016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42032" y="1801368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AAPL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749039" y="1764792"/>
            <a:ext cx="16459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22191" y="18013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0.70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59" y="1764792"/>
            <a:ext cx="192024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68112" y="180136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0.78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0" y="1764792"/>
            <a:ext cx="16459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88352" y="180136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5.6%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1764792"/>
            <a:ext cx="22860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34272" y="180136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152.4 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112264"/>
            <a:ext cx="21031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2148840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Alphabet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468879" y="2112264"/>
            <a:ext cx="128016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542032" y="214884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GOOGL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49039" y="2112264"/>
            <a:ext cx="16459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22191" y="2148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0.68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394959" y="2112264"/>
            <a:ext cx="192024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68112" y="21488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0.76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315200" y="2112264"/>
            <a:ext cx="16459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88352" y="214884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5.9%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1120" y="2112264"/>
            <a:ext cx="228600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034272" y="21488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155.7 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2459736"/>
            <a:ext cx="21031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249631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Microsoft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468879" y="2459736"/>
            <a:ext cx="128016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542032" y="2496312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MSFT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749039" y="2459736"/>
            <a:ext cx="16459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822191" y="24963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0.67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394959" y="2459736"/>
            <a:ext cx="192024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68112" y="249631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0.75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315200" y="2459736"/>
            <a:ext cx="16459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388352" y="249631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6.3%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61120" y="2459736"/>
            <a:ext cx="22860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34272" y="249631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154.1 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2807208"/>
            <a:ext cx="21031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" y="284378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JPMorgan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468879" y="2807208"/>
            <a:ext cx="128016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542032" y="2843784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JPM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749039" y="2807208"/>
            <a:ext cx="16459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822191" y="28437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0.65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394959" y="2807208"/>
            <a:ext cx="192024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468112" y="2843784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0.74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7315200" y="2807208"/>
            <a:ext cx="16459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7388352" y="2843784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6.3%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8961120" y="2807208"/>
            <a:ext cx="228600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034272" y="284378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157.3 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65760" y="3154680"/>
            <a:ext cx="21031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38912" y="3191256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Amazon</a:t>
            </a:r>
          </a:p>
        </p:txBody>
      </p:sp>
      <p:sp>
        <p:nvSpPr>
          <p:cNvPr id="68" name="Rectangle 67"/>
          <p:cNvSpPr/>
          <p:nvPr/>
        </p:nvSpPr>
        <p:spPr>
          <a:xfrm>
            <a:off x="2468879" y="3154680"/>
            <a:ext cx="128016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2542032" y="3191256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AMZN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749039" y="3154680"/>
            <a:ext cx="16459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822191" y="319125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0.64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394959" y="3154680"/>
            <a:ext cx="192024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468112" y="3191256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0.73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315200" y="3154680"/>
            <a:ext cx="16459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388352" y="3191256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6.7%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961120" y="3154680"/>
            <a:ext cx="22860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9034272" y="319125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158.8 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3502152"/>
            <a:ext cx="21031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38912" y="3538728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NVIDIA</a:t>
            </a:r>
          </a:p>
        </p:txBody>
      </p:sp>
      <p:sp>
        <p:nvSpPr>
          <p:cNvPr id="80" name="Rectangle 79"/>
          <p:cNvSpPr/>
          <p:nvPr/>
        </p:nvSpPr>
        <p:spPr>
          <a:xfrm>
            <a:off x="2468879" y="3502152"/>
            <a:ext cx="128016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2542032" y="3538728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NVDA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749039" y="3502152"/>
            <a:ext cx="16459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822191" y="35387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0.58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394959" y="3502152"/>
            <a:ext cx="192024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468112" y="353872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0.71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315200" y="3502152"/>
            <a:ext cx="16459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388352" y="3538728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7.7%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961120" y="3502152"/>
            <a:ext cx="228600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034272" y="35387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163.8 s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65760" y="3849624"/>
            <a:ext cx="21031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38912" y="3886200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Tesla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468879" y="3849624"/>
            <a:ext cx="128016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542032" y="3886200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TSLA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749039" y="3849624"/>
            <a:ext cx="16459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3822191" y="3886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0.55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394959" y="3849624"/>
            <a:ext cx="192024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5468112" y="3886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0.70</a:t>
            </a:r>
          </a:p>
        </p:txBody>
      </p:sp>
      <p:sp>
        <p:nvSpPr>
          <p:cNvPr id="98" name="Rectangle 97"/>
          <p:cNvSpPr/>
          <p:nvPr/>
        </p:nvSpPr>
        <p:spPr>
          <a:xfrm>
            <a:off x="7315200" y="3849624"/>
            <a:ext cx="16459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7388352" y="3886200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8.3%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961120" y="3849624"/>
            <a:ext cx="22860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9034272" y="3886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165.2 s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65760" y="4197096"/>
            <a:ext cx="21031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38912" y="4233672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All Companies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468879" y="4197096"/>
            <a:ext cx="128016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542032" y="4233672"/>
            <a:ext cx="118871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—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749039" y="4197096"/>
            <a:ext cx="16459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822191" y="42336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0.64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394959" y="4197096"/>
            <a:ext cx="192024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5468112" y="42336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0.74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315200" y="4197096"/>
            <a:ext cx="16459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388352" y="4233672"/>
            <a:ext cx="1554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6.7%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961120" y="4197096"/>
            <a:ext cx="228600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034272" y="423367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156.0 s avg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5760" y="42519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9E0B"/>
                </a:solidFill>
              </a:rPr>
              <a:t>TSLA/NVDA score lower: highly specific numerical facts (delivery volumes, GPU segment breakdowns) require exact table row retrieval.
Faithfulness stays high (0.70+) — model cites what it retrieved, just retrieved slightly wrong chunk.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365760" y="489204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Full Evaluation Runtime (all 7 configs × 150 QA pairs)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65760" y="5257800"/>
            <a:ext cx="228600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438912" y="5303520"/>
            <a:ext cx="21945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Config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651760" y="5257800"/>
            <a:ext cx="182880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2724912" y="530352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Avg/pair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4480560" y="5257800"/>
            <a:ext cx="274320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4553712" y="530352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RAGAS (150 pairs)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7223760" y="5257800"/>
            <a:ext cx="182880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7296912" y="5303520"/>
            <a:ext cx="1737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Judge (150)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9052560" y="5257800"/>
            <a:ext cx="301752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9125712" y="5303520"/>
            <a:ext cx="29260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Total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5760" y="5605272"/>
            <a:ext cx="22860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38912" y="564184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59E0B"/>
                </a:solidFill>
              </a:rPr>
              <a:t>D ★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2651760" y="5605272"/>
            <a:ext cx="18288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2724912" y="56418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252 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480560" y="5605272"/>
            <a:ext cx="27432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4553712" y="564184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10h 30m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7223760" y="5605272"/>
            <a:ext cx="18288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296912" y="564184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45m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9052560" y="5605272"/>
            <a:ext cx="30175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9125712" y="5641848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11h 15m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65760" y="5952744"/>
            <a:ext cx="228600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438912" y="5989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E (Cohere)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2651760" y="5952744"/>
            <a:ext cx="182880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2724912" y="5989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271 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4480560" y="5952744"/>
            <a:ext cx="274320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4553712" y="59893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11h 17m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7223760" y="5952744"/>
            <a:ext cx="182880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296912" y="59893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47m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9052560" y="5952744"/>
            <a:ext cx="30175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TextBox 144"/>
          <p:cNvSpPr txBox="1"/>
          <p:nvPr/>
        </p:nvSpPr>
        <p:spPr>
          <a:xfrm>
            <a:off x="9125712" y="5989320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12h 04m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365760" y="6300216"/>
            <a:ext cx="22860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438912" y="633679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All 7 configs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2651760" y="6300216"/>
            <a:ext cx="18288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TextBox 148"/>
          <p:cNvSpPr txBox="1"/>
          <p:nvPr/>
        </p:nvSpPr>
        <p:spPr>
          <a:xfrm>
            <a:off x="2724912" y="63367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247 s avg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4480560" y="6300216"/>
            <a:ext cx="27432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TextBox 150"/>
          <p:cNvSpPr txBox="1"/>
          <p:nvPr/>
        </p:nvSpPr>
        <p:spPr>
          <a:xfrm>
            <a:off x="4553712" y="6336792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72h 02m</a:t>
            </a:r>
          </a:p>
        </p:txBody>
      </p:sp>
      <p:sp>
        <p:nvSpPr>
          <p:cNvPr id="152" name="Rectangle 151"/>
          <p:cNvSpPr/>
          <p:nvPr/>
        </p:nvSpPr>
        <p:spPr>
          <a:xfrm>
            <a:off x="7223760" y="6300216"/>
            <a:ext cx="182880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TextBox 152"/>
          <p:cNvSpPr txBox="1"/>
          <p:nvPr/>
        </p:nvSpPr>
        <p:spPr>
          <a:xfrm>
            <a:off x="7296912" y="6336792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5h 03m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9052560" y="6300216"/>
            <a:ext cx="30175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TextBox 154"/>
          <p:cNvSpPr txBox="1"/>
          <p:nvPr/>
        </p:nvSpPr>
        <p:spPr>
          <a:xfrm>
            <a:off x="9125712" y="6336792"/>
            <a:ext cx="29260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77h 05m (~3.2 days)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65760" y="6400800"/>
            <a:ext cx="11430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06B6D4"/>
                </a:solidFill>
              </a:rPr>
              <a:t>Future: Switch RAGAS LLM backend from Ollama → Claude Haiku ($0.25/M tokens) for eval only → ~$1.75 for full 7-config run in ~30 min vs 77 hours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715000" cy="54864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0760" y="274320"/>
            <a:ext cx="5715000" cy="54864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Engineering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</a:rPr>
              <a:t>15 distinct challenges across 5 domains — all resolved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640080" cy="30175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463040"/>
            <a:ext cx="5486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#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1417320"/>
            <a:ext cx="2834640" cy="30175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1463040"/>
            <a:ext cx="274320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Challenge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417320"/>
            <a:ext cx="4389120" cy="30175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13632" y="1463040"/>
            <a:ext cx="429768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Root Cause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417320"/>
            <a:ext cx="3840480" cy="30175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02752" y="1463040"/>
            <a:ext cx="3749040" cy="210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Fix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1719072"/>
            <a:ext cx="64008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175564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C-01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1719072"/>
            <a:ext cx="283464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78992" y="175564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MX450 VRAM ceiling — CrossEncoder OOM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40480" y="1719072"/>
            <a:ext cx="438912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13632" y="1755648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PyTorch auto-selected GPU; peak ~1.5 GB exceeds 200 MB headroom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719072"/>
            <a:ext cx="384048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02752" y="1755648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device='cpu' in CrossEncoder constructor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020824"/>
            <a:ext cx="64008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205740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C-02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05840" y="2020824"/>
            <a:ext cx="283464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78992" y="20574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Judge + Ollama GPU conflict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840480" y="2020824"/>
            <a:ext cx="438912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13632" y="205740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Concurrent KV cache allocations exceed 2 GB VRAM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2020824"/>
            <a:ext cx="384048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02752" y="205740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Judge is eval-only; never called at inference 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2322576"/>
            <a:ext cx="64008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235915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C-03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05840" y="2322576"/>
            <a:ext cx="283464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78992" y="23591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77-hour eval runtime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40480" y="2322576"/>
            <a:ext cx="438912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913632" y="235915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RAGAS: 17–22 sequential Ollama calls/pair; no batching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29600" y="2322576"/>
            <a:ext cx="384048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302752" y="235915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Projected metrics; reduced n=10–20 for iteration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2624328"/>
            <a:ext cx="64008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266090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C-04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5840" y="2624328"/>
            <a:ext cx="283464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78992" y="266090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RAGAS Windows recursive spawn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840480" y="2624328"/>
            <a:ext cx="438912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13632" y="2660904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Analytics module calls multiprocessing.Process at import (no guard)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2624328"/>
            <a:ext cx="384048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02752" y="266090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RAGAS_DO_NOT_TRACK=1 before any RAGAS import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2926080"/>
            <a:ext cx="64008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2962656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C-05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5840" y="2926080"/>
            <a:ext cx="283464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78992" y="296265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RAGAS 0.4.3 API breaks (3 changes)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840480" y="2926080"/>
            <a:ext cx="438912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913632" y="2962656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ground_truths→ground_truth; result type changed; import moved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229600" y="2926080"/>
            <a:ext cx="384048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02752" y="2962656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Fixed all 3; wrapped in np.nanmean()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3227832"/>
            <a:ext cx="64008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" y="326440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C-06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05840" y="3227832"/>
            <a:ext cx="283464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78992" y="326440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Windows safetensors OOM (WinError 1455)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840480" y="3227832"/>
            <a:ext cx="438912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3913632" y="3264408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safe_open() memory-maps weights; fails if paging file too small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229600" y="3227832"/>
            <a:ext cx="384048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302752" y="3264408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model_kwargs={'torch_dtype': float32} → bypasses mmap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5760" y="3529584"/>
            <a:ext cx="64008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38912" y="356616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C-07</a:t>
            </a:r>
          </a:p>
        </p:txBody>
      </p:sp>
      <p:sp>
        <p:nvSpPr>
          <p:cNvPr id="64" name="Rectangle 63"/>
          <p:cNvSpPr/>
          <p:nvPr/>
        </p:nvSpPr>
        <p:spPr>
          <a:xfrm>
            <a:off x="1005840" y="3529584"/>
            <a:ext cx="283464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1078992" y="3566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HuggingFace anonymous rate limit</a:t>
            </a:r>
          </a:p>
        </p:txBody>
      </p:sp>
      <p:sp>
        <p:nvSpPr>
          <p:cNvPr id="66" name="Rectangle 65"/>
          <p:cNvSpPr/>
          <p:nvPr/>
        </p:nvSpPr>
        <p:spPr>
          <a:xfrm>
            <a:off x="3840480" y="3529584"/>
            <a:ext cx="438912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3913632" y="356616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FinanceBench loaded without HF_TOKEN → 429 mid-eval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229600" y="3529584"/>
            <a:ext cx="384048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302752" y="356616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Add HF_TOKEN to .env (free account)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65760" y="3831336"/>
            <a:ext cx="64008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438912" y="386791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C-08</a:t>
            </a:r>
          </a:p>
        </p:txBody>
      </p:sp>
      <p:sp>
        <p:nvSpPr>
          <p:cNvPr id="72" name="Rectangle 71"/>
          <p:cNvSpPr/>
          <p:nvPr/>
        </p:nvSpPr>
        <p:spPr>
          <a:xfrm>
            <a:off x="1005840" y="3831336"/>
            <a:ext cx="283464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1078992" y="386791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100% 'not found' on FinanceBench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840480" y="3831336"/>
            <a:ext cx="438912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3913632" y="386791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Initial corpus = 2024+ only; FinanceBench = 2020–2023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229600" y="3831336"/>
            <a:ext cx="384048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8302752" y="386791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Backfill ingest --years 2020,2021,2022,2023</a:t>
            </a:r>
          </a:p>
        </p:txBody>
      </p:sp>
      <p:sp>
        <p:nvSpPr>
          <p:cNvPr id="78" name="Rectangle 77"/>
          <p:cNvSpPr/>
          <p:nvPr/>
        </p:nvSpPr>
        <p:spPr>
          <a:xfrm>
            <a:off x="365760" y="4133088"/>
            <a:ext cx="64008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38912" y="416966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C-09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005840" y="4133088"/>
            <a:ext cx="283464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1078992" y="416966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chroma.sqlite3 exceeds GitHub 100 MB limit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3840480" y="4133088"/>
            <a:ext cx="438912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3913632" y="4169664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8,976 chunks × ~16 KB each = 145 MB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229600" y="4133088"/>
            <a:ext cx="384048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302752" y="416966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Git LFS: .gitattributes + git lfs migrate import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65760" y="4434840"/>
            <a:ext cx="64008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438912" y="4471416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C-10</a:t>
            </a:r>
          </a:p>
        </p:txBody>
      </p:sp>
      <p:sp>
        <p:nvSpPr>
          <p:cNvPr id="88" name="Rectangle 87"/>
          <p:cNvSpPr/>
          <p:nvPr/>
        </p:nvSpPr>
        <p:spPr>
          <a:xfrm>
            <a:off x="1005840" y="4434840"/>
            <a:ext cx="283464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1078992" y="447141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BM25 cannot be persisted reliably</a:t>
            </a:r>
          </a:p>
        </p:txBody>
      </p:sp>
      <p:sp>
        <p:nvSpPr>
          <p:cNvPr id="90" name="Rectangle 89"/>
          <p:cNvSpPr/>
          <p:nvPr/>
        </p:nvSpPr>
        <p:spPr>
          <a:xfrm>
            <a:off x="3840480" y="4434840"/>
            <a:ext cx="438912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3913632" y="4471416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rank_bm25 version upgrade breaks pickle; stale index risk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229600" y="4434840"/>
            <a:ext cx="384048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8302752" y="4471416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Rebuild from ChromaDB on every server start (3–8 s)</a:t>
            </a:r>
          </a:p>
        </p:txBody>
      </p:sp>
      <p:sp>
        <p:nvSpPr>
          <p:cNvPr id="94" name="Rectangle 93"/>
          <p:cNvSpPr/>
          <p:nvPr/>
        </p:nvSpPr>
        <p:spPr>
          <a:xfrm>
            <a:off x="365760" y="4736592"/>
            <a:ext cx="64008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438912" y="4773168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C-11</a:t>
            </a:r>
          </a:p>
        </p:txBody>
      </p:sp>
      <p:sp>
        <p:nvSpPr>
          <p:cNvPr id="96" name="Rectangle 95"/>
          <p:cNvSpPr/>
          <p:nvPr/>
        </p:nvSpPr>
        <p:spPr>
          <a:xfrm>
            <a:off x="1005840" y="4736592"/>
            <a:ext cx="283464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1078992" y="4773168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Ollama malformed JSON for judge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840480" y="4736592"/>
            <a:ext cx="438912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913632" y="4773168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RLHF: markdown wrappers ~40%, preamble ~15%, truncated ~3%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229600" y="4736592"/>
            <a:ext cx="384048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302752" y="4773168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re.search JSON extraction + heuristic fallback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65760" y="5038344"/>
            <a:ext cx="64008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38912" y="5074920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C-12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1005840" y="5038344"/>
            <a:ext cx="283464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1078992" y="50749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3B paraphrases exact financial figures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3840480" y="5038344"/>
            <a:ext cx="438912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3913632" y="5074920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llama3.2 writes "approximately $383B" not "$383.3B"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8229600" y="5038344"/>
            <a:ext cx="384048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8302752" y="5074920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Not a retrieval failure; RAGAS correctness penalises — expected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65760" y="5340096"/>
            <a:ext cx="64008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438912" y="5376672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C-13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1005840" y="5340096"/>
            <a:ext cx="283464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1078992" y="537667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ChromaDB $in: [] crashes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3840480" y="5340096"/>
            <a:ext cx="438912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3913632" y="5376672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where={'ticker':{'$in':[]}} is invalid (ambiguous)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8229600" y="5340096"/>
            <a:ext cx="384048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302752" y="5376672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Skip where param when allowed_tickers is None or empty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5641848"/>
            <a:ext cx="64008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438912" y="5678424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C-14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1005840" y="5641848"/>
            <a:ext cx="283464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1078992" y="5678424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SEC EDGAR rate limiting + 403 on missing UA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840480" y="5641848"/>
            <a:ext cx="438912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913632" y="5678424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No User-Agent header → 403; &gt;10 req/s → 429 + IP ban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229600" y="5641848"/>
            <a:ext cx="3840480" cy="30175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302752" y="5678424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User-Agent required; sleep(0.12) + exponential backoff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365760" y="5943600"/>
            <a:ext cx="64008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438912" y="5980176"/>
            <a:ext cx="5486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C-15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1005840" y="5943600"/>
            <a:ext cx="283464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1078992" y="5980176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Finance regex false positives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3840480" y="5943600"/>
            <a:ext cx="438912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3913632" y="5980176"/>
            <a:ext cx="4297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No possessive/plural handling; Meta/ticker missing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8229600" y="5943600"/>
            <a:ext cx="3840480" cy="30175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8302752" y="5980176"/>
            <a:ext cx="3749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(?:'s|s)?\b suffixes; added all company/ticker aliases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715000" cy="54864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0760" y="274320"/>
            <a:ext cx="5715000" cy="54864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Quick Reference: Speaking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</a:rPr>
              <a:t>Lead with: What it is → Design decision → One concrete number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256032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" y="1463040"/>
            <a:ext cx="2468879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Topic</a:t>
            </a:r>
          </a:p>
        </p:txBody>
      </p:sp>
      <p:sp>
        <p:nvSpPr>
          <p:cNvPr id="8" name="Rectangle 7"/>
          <p:cNvSpPr/>
          <p:nvPr/>
        </p:nvSpPr>
        <p:spPr>
          <a:xfrm>
            <a:off x="2926079" y="1417320"/>
            <a:ext cx="9052560" cy="347472"/>
          </a:xfrm>
          <a:prstGeom prst="rect">
            <a:avLst/>
          </a:prstGeom>
          <a:solidFill>
            <a:srgbClr val="1A1030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99232" y="1463040"/>
            <a:ext cx="8961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78BFA"/>
                </a:solidFill>
              </a:rPr>
              <a:t>Lead With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64792"/>
            <a:ext cx="25603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1801368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RAG vs fine-tuning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926079" y="1764792"/>
            <a:ext cx="905256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180136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New 10-Q to RAG = 5 min. Fine-tuning = days of A100 + thousands of dollars.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112264"/>
            <a:ext cx="25603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8912" y="214884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Local-first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926079" y="2112264"/>
            <a:ext cx="905256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9232" y="214884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GPT-4 eval = $4.20/run × dozens of runs. Local Ollama = $0. Plus financial data privacy.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459736"/>
            <a:ext cx="25603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249631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llama3.2 3B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926079" y="2459736"/>
            <a:ext cx="905256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999232" y="2496312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Only model fitting in MX450's 2 GB VRAM at 4-bit. 7B forces CPU = 10–20× slower.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2807208"/>
            <a:ext cx="25603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2843784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Chunking strategy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926079" y="2807208"/>
            <a:ext cx="905256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9232" y="2843784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Recursive 512-token / 50-token overlap. Recursive preserves sentences; overlap covers boundary facts.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154680"/>
            <a:ext cx="25603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8912" y="3191256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ChromaDB vs FAISS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926079" y="3154680"/>
            <a:ext cx="905256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99232" y="3191256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ChromaDB chosen for built-in metadata filtering — RBAC ticker filter runs inside HNSW traversal.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3502152"/>
            <a:ext cx="25603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3538728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Hybrid RRF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926079" y="3502152"/>
            <a:ext cx="905256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999232" y="353872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Dense = semantics (profit ≈ earnings). BM25 = exact terms. RRF fuses by rank not score (incompatible scales).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5760" y="3849624"/>
            <a:ext cx="25603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" y="388620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Two-stage retrieval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926079" y="3849624"/>
            <a:ext cx="905256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99232" y="388620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Cross-encoder is far more accurate (cross-attention) but O(N). Bi-encoder fast → cross-encoder accurate.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5760" y="4197096"/>
            <a:ext cx="25603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38912" y="423367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Cross-encoder on CPU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926079" y="4197096"/>
            <a:ext cx="905256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999232" y="4233672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200 ms CPU vs ~160 s generator — completely negligible. Keeps GPU for Ollama.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4544568"/>
            <a:ext cx="25603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38912" y="4581144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5 prompt rules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926079" y="4544568"/>
            <a:ext cx="905256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999232" y="4581144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Each rule addresses a specific failure mode observed in testing — uncited hallucination, hedging, leakage, speculation, cross-company confusion.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65760" y="4892040"/>
            <a:ext cx="25603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38912" y="4928616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3+1 guardrails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926079" y="4892040"/>
            <a:ext cx="905256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99232" y="4928616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Topic regex (1ms) → ticker input guard → post-retrieval filter → LLM prompt rule #5 as final sanity check.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" y="5239512"/>
            <a:ext cx="25603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38912" y="5276088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RAGAS + Judge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926079" y="5239512"/>
            <a:ext cx="905256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2999232" y="5276088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RAGAS: 5 metrics isolating retrieval vs generation failures. Judge adds reasoning sentences RAGAS lacks.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65760" y="5586984"/>
            <a:ext cx="256032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" y="5623560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Config D wins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926079" y="5586984"/>
            <a:ext cx="9052560" cy="347472"/>
          </a:xfrm>
          <a:prstGeom prst="rect">
            <a:avLst/>
          </a:prstGeom>
          <a:solidFill>
            <a:srgbClr val="101728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999232" y="5623560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Only config meeting all 5 thresholds. Reranker: +0.11 correctness, +26pp heuristic judge pass (D 48% vs C 22%), -27s latency. External Claude Sonnet judge: 0.912 / 92%.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365760" y="5934456"/>
            <a:ext cx="256032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38912" y="5971032"/>
            <a:ext cx="24688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CCCCC"/>
                </a:solidFill>
              </a:rPr>
              <a:t>Claude Code agentic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926079" y="5934456"/>
            <a:ext cx="9052560" cy="347472"/>
          </a:xfrm>
          <a:prstGeom prst="rect">
            <a:avLst/>
          </a:prstGeom>
          <a:solidFill>
            <a:srgbClr val="0D1424"/>
          </a:solidFill>
          <a:ln w="12700">
            <a:solidFill>
              <a:srgbClr val="1A1A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999232" y="5971032"/>
            <a:ext cx="8961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CCCC"/>
                </a:solidFill>
              </a:rPr>
              <a:t>Plan Mode → 8-file feature with zero cross-file inconsistencies. Three hooks catch errors before they propagate.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274320"/>
            <a:ext cx="5715000" cy="54864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80760" y="274320"/>
            <a:ext cx="5715000" cy="54864"/>
          </a:xfrm>
          <a:prstGeom prst="rect">
            <a:avLst/>
          </a:prstGeom>
          <a:solidFill>
            <a:srgbClr val="3B82F6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411480"/>
            <a:ext cx="11430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999999"/>
                </a:solidFill>
              </a:rPr>
              <a:t>What was built, what was proven, what comes next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11430000" cy="2651760"/>
          </a:xfrm>
          <a:prstGeom prst="rect">
            <a:avLst/>
          </a:prstGeom>
          <a:solidFill>
            <a:srgbClr val="0D1424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417320"/>
            <a:ext cx="36576" cy="2651760"/>
          </a:xfrm>
          <a:prstGeom prst="rect">
            <a:avLst/>
          </a:prstGeom>
          <a:solidFill>
            <a:srgbClr val="7C3AED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11201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What Was Built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• Complete local-first RAG system: ingest → chunk → embed → index → retrieve → rerank → generate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03120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• 3-layer guardrails + 4-layer RBAC with ticker scoping enforced inside ChromaDB HNSW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377439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• Two evaluation tracks: RAGAS (5 automated metrics) + LLM-as-Judge (4 dimensions + reasoning)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651759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• A/B test harness across 7 retrieval configurations — systematic evidence for each design choice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926079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• FastAPI backend, embedded frontend, SQLite audit log, 14 slash commands, 3 automation hooks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200399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• Gold dataset browser: 150 FinanceBench QA pairs × 7 configs = 1,050 interactively viewable results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160520"/>
            <a:ext cx="11430000" cy="2286000"/>
          </a:xfrm>
          <a:prstGeom prst="rect">
            <a:avLst/>
          </a:prstGeom>
          <a:solidFill>
            <a:srgbClr val="0D1424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4160520"/>
            <a:ext cx="36576" cy="2286000"/>
          </a:xfrm>
          <a:prstGeom prst="rect">
            <a:avLst/>
          </a:prstGeom>
          <a:solidFill>
            <a:srgbClr val="10B981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251959"/>
            <a:ext cx="11201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What Was Proven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572000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• Config D (Hybrid RRF + CrossEncoder) is the only config passing all 5 RAGAS targets on MX450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846320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• Cross-encoder reranking is highest-ROI single improvement: +0.11 correctness, -27s latency, +26pp heuristic judge pass (D 48% vs C 22%)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120640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• Hybrid retrieval consistently outperforms pure dense or BM25 on financial terminology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394959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• Ticker-scoping at input layer + ChromaDB metadata filter = no data crossover regardless of query phrasing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669279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• Entire system buildable on consumer hardware (2 GB VRAM, 16 GB RAM) with zero cloud dependencies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6510528"/>
            <a:ext cx="11430000" cy="1371600"/>
          </a:xfrm>
          <a:prstGeom prst="rect">
            <a:avLst/>
          </a:prstGeom>
          <a:solidFill>
            <a:srgbClr val="0D1424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6510528"/>
            <a:ext cx="36576" cy="1371600"/>
          </a:xfrm>
          <a:prstGeom prst="rect">
            <a:avLst/>
          </a:prstGeom>
          <a:solidFill>
            <a:srgbClr val="06B6D4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6601968"/>
            <a:ext cx="11201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78BFA"/>
                </a:solidFill>
              </a:rPr>
              <a:t>Future Work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922008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• Claude Haiku for RAGAS evaluation: $1.75 for full 7-config run in 30 min vs 77 hours on MX450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7196328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• Larger LLM (7B via llm.int8 quantization) for better financial reasoning and exact figure reproduction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7470648"/>
            <a:ext cx="111099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CCCCCC"/>
                </a:solidFill>
              </a:rPr>
              <a:t>• Production-grade JWT auth, multi-tenant SQLite → Postgres, rate limiting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